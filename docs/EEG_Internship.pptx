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2.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3.xml" ContentType="application/vnd.openxmlformats-officedocument.drawingml.chart+xml"/>
  <Override PartName="/ppt/notesSlides/notesSlide11.xml" ContentType="application/vnd.openxmlformats-officedocument.presentationml.notesSlide+xml"/>
  <Override PartName="/ppt/charts/chart4.xml" ContentType="application/vnd.openxmlformats-officedocument.drawingml.chart+xml"/>
  <Override PartName="/ppt/notesSlides/notesSlide1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31E7AD8-9AAD-528E-97D7-D6FDFCED05C9}" v="16" dt="2026-09-07T08:30:40.51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Mean CV Accuracy (%)</c:v>
                </c:pt>
              </c:strCache>
            </c:strRef>
          </c:tx>
          <c:spPr>
            <a:ln w="38100" cap="flat">
              <a:solidFill>
                <a:srgbClr val="2EC4B6"/>
              </a:solidFill>
              <a:prstDash val="solid"/>
              <a:round/>
            </a:ln>
            <a:effectLst/>
          </c:spPr>
          <c:marker>
            <c:symbol val="circle"/>
            <c:size val="6"/>
            <c:spPr>
              <a:solidFill>
                <a:srgbClr val="2EC4B6"/>
              </a:solidFill>
              <a:ln w="9525" cap="flat">
                <a:solidFill>
                  <a:srgbClr val="2EC4B6"/>
                </a:solidFill>
                <a:prstDash val="solid"/>
                <a:round/>
              </a:ln>
              <a:effectLst/>
            </c:spPr>
          </c:marker>
          <c:dLbls>
            <c:numFmt formatCode="0.0" sourceLinked="0"/>
            <c:spPr>
              <a:noFill/>
              <a:ln>
                <a:noFill/>
              </a:ln>
              <a:effectLst/>
            </c:spPr>
            <c:txPr>
              <a:bodyPr/>
              <a:lstStyle/>
              <a:p>
                <a:pPr>
                  <a:defRPr sz="1000" b="0" i="0" u="none" strike="noStrike">
                    <a:solidFill>
                      <a:srgbClr val="12294D"/>
                    </a:solidFill>
                    <a:latin typeface="Arial"/>
                  </a:defRPr>
                </a:pPr>
                <a:endParaRPr lang="fr-F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2</c:v>
                </c:pt>
                <c:pt idx="1">
                  <c:v>4</c:v>
                </c:pt>
                <c:pt idx="2">
                  <c:v>6</c:v>
                </c:pt>
                <c:pt idx="3">
                  <c:v>8</c:v>
                </c:pt>
                <c:pt idx="4">
                  <c:v>10</c:v>
                </c:pt>
                <c:pt idx="5">
                  <c:v>12</c:v>
                </c:pt>
                <c:pt idx="6">
                  <c:v>16</c:v>
                </c:pt>
              </c:strCache>
            </c:strRef>
          </c:cat>
          <c:val>
            <c:numRef>
              <c:f>Sheet1!$B$2:$B$8</c:f>
              <c:numCache>
                <c:formatCode>General</c:formatCode>
                <c:ptCount val="7"/>
                <c:pt idx="0">
                  <c:v>74.3</c:v>
                </c:pt>
                <c:pt idx="1">
                  <c:v>79.2</c:v>
                </c:pt>
                <c:pt idx="2">
                  <c:v>78.099999999999994</c:v>
                </c:pt>
                <c:pt idx="3">
                  <c:v>80.2</c:v>
                </c:pt>
                <c:pt idx="4">
                  <c:v>82.6</c:v>
                </c:pt>
                <c:pt idx="5">
                  <c:v>83</c:v>
                </c:pt>
                <c:pt idx="6">
                  <c:v>80.5</c:v>
                </c:pt>
              </c:numCache>
            </c:numRef>
          </c:val>
          <c:smooth val="0"/>
          <c:extLst>
            <c:ext xmlns:c16="http://schemas.microsoft.com/office/drawing/2014/chart" uri="{C3380CC4-5D6E-409C-BE32-E72D297353CC}">
              <c16:uniqueId val="{00000000-4309-40EC-9674-FCDF29293F2E}"/>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title>
          <c:tx>
            <c:rich>
              <a:bodyPr/>
              <a:lstStyle/>
              <a:p>
                <a:pPr>
                  <a:defRPr b="0" i="0" u="none" strike="noStrike">
                    <a:solidFill>
                      <a:srgbClr val="000000"/>
                    </a:solidFill>
                    <a:latin typeface="Arial"/>
                  </a:defRPr>
                </a:pPr>
                <a:r>
                  <a:rPr lang="en-US" b="0" i="0" u="none" strike="noStrike">
                    <a:solidFill>
                      <a:srgbClr val="000000"/>
                    </a:solidFill>
                    <a:latin typeface="Arial"/>
                  </a:rPr>
                  <a:t>CSP components</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A6B7B"/>
                </a:solidFill>
                <a:latin typeface="Arial"/>
              </a:defRPr>
            </a:pPr>
            <a:endParaRPr lang="en-US"/>
          </a:p>
        </c:txPr>
        <c:crossAx val="2094734552"/>
        <c:crosses val="autoZero"/>
        <c:auto val="1"/>
        <c:lblAlgn val="ctr"/>
        <c:lblOffset val="100"/>
        <c:noMultiLvlLbl val="1"/>
      </c:catAx>
      <c:valAx>
        <c:axId val="2094734552"/>
        <c:scaling>
          <c:orientation val="minMax"/>
          <c:max val="90"/>
          <c:min val="60"/>
        </c:scaling>
        <c:delete val="0"/>
        <c:axPos val="l"/>
        <c:majorGridlines>
          <c:spPr>
            <a:ln w="9525" cap="flat">
              <a:solidFill>
                <a:srgbClr val="DCE3E8"/>
              </a:solidFill>
              <a:prstDash val="solid"/>
              <a:round/>
            </a:ln>
          </c:spPr>
        </c:majorGridlines>
        <c:title>
          <c:tx>
            <c:rich>
              <a:bodyPr/>
              <a:lstStyle/>
              <a:p>
                <a:pPr>
                  <a:defRPr b="0" i="0" u="none" strike="noStrike">
                    <a:solidFill>
                      <a:srgbClr val="000000"/>
                    </a:solidFill>
                    <a:latin typeface="Arial"/>
                  </a:defRPr>
                </a:pPr>
                <a:r>
                  <a:rPr lang="en-US" b="0" i="0" u="none" strike="noStrike">
                    <a:solidFill>
                      <a:srgbClr val="000000"/>
                    </a:solidFill>
                    <a:latin typeface="Arial"/>
                  </a:rPr>
                  <a:t>Accuracy (%)</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A6B7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Mean LOSO Accuracy (%)</c:v>
                </c:pt>
              </c:strCache>
            </c:strRef>
          </c:tx>
          <c:spPr>
            <a:solidFill>
              <a:srgbClr val="1C7293"/>
            </a:solidFill>
            <a:effectLst/>
          </c:spPr>
          <c:invertIfNegative val="0"/>
          <c:dLbls>
            <c:numFmt formatCode="0.0" sourceLinked="0"/>
            <c:spPr>
              <a:noFill/>
              <a:ln>
                <a:noFill/>
              </a:ln>
              <a:effectLst/>
            </c:spPr>
            <c:txPr>
              <a:bodyPr/>
              <a:lstStyle/>
              <a:p>
                <a:pPr>
                  <a:defRPr sz="1000" b="0" i="0" u="none" strike="noStrike">
                    <a:solidFill>
                      <a:srgbClr val="12294D"/>
                    </a:solidFill>
                    <a:latin typeface="Arial"/>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4</c:v>
                </c:pt>
                <c:pt idx="1">
                  <c:v>6</c:v>
                </c:pt>
                <c:pt idx="2">
                  <c:v>8</c:v>
                </c:pt>
                <c:pt idx="3">
                  <c:v>12</c:v>
                </c:pt>
                <c:pt idx="4">
                  <c:v>16</c:v>
                </c:pt>
              </c:strCache>
            </c:strRef>
          </c:cat>
          <c:val>
            <c:numRef>
              <c:f>Sheet1!$B$2:$B$6</c:f>
              <c:numCache>
                <c:formatCode>General</c:formatCode>
                <c:ptCount val="5"/>
                <c:pt idx="0">
                  <c:v>32.1</c:v>
                </c:pt>
                <c:pt idx="1">
                  <c:v>32.29</c:v>
                </c:pt>
                <c:pt idx="2">
                  <c:v>30.52</c:v>
                </c:pt>
                <c:pt idx="3">
                  <c:v>30.94</c:v>
                </c:pt>
                <c:pt idx="4">
                  <c:v>30.67</c:v>
                </c:pt>
              </c:numCache>
            </c:numRef>
          </c:val>
          <c:extLst>
            <c:ext xmlns:c16="http://schemas.microsoft.com/office/drawing/2014/chart" uri="{C3380CC4-5D6E-409C-BE32-E72D297353CC}">
              <c16:uniqueId val="{00000000-E208-43A5-888F-998CF0C3C76A}"/>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title>
          <c:tx>
            <c:rich>
              <a:bodyPr/>
              <a:lstStyle/>
              <a:p>
                <a:pPr>
                  <a:defRPr b="0" i="0" u="none" strike="noStrike">
                    <a:solidFill>
                      <a:srgbClr val="000000"/>
                    </a:solidFill>
                    <a:latin typeface="Arial"/>
                  </a:defRPr>
                </a:pPr>
                <a:r>
                  <a:rPr lang="en-US" b="0" i="0" u="none" strike="noStrike">
                    <a:solidFill>
                      <a:srgbClr val="000000"/>
                    </a:solidFill>
                    <a:latin typeface="Arial"/>
                  </a:rPr>
                  <a:t>CSP components</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A6B7B"/>
                </a:solidFill>
                <a:latin typeface="Arial"/>
              </a:defRPr>
            </a:pPr>
            <a:endParaRPr lang="en-US"/>
          </a:p>
        </c:txPr>
        <c:crossAx val="2094734552"/>
        <c:crosses val="autoZero"/>
        <c:auto val="1"/>
        <c:lblAlgn val="ctr"/>
        <c:lblOffset val="100"/>
        <c:noMultiLvlLbl val="1"/>
      </c:catAx>
      <c:valAx>
        <c:axId val="2094734552"/>
        <c:scaling>
          <c:orientation val="minMax"/>
          <c:max val="40"/>
          <c:min val="0"/>
        </c:scaling>
        <c:delete val="0"/>
        <c:axPos val="l"/>
        <c:majorGridlines>
          <c:spPr>
            <a:ln w="9525" cap="flat">
              <a:solidFill>
                <a:srgbClr val="DCE3E8"/>
              </a:solidFill>
              <a:prstDash val="solid"/>
              <a:round/>
            </a:ln>
          </c:spPr>
        </c:majorGridlines>
        <c:title>
          <c:tx>
            <c:rich>
              <a:bodyPr/>
              <a:lstStyle/>
              <a:p>
                <a:pPr>
                  <a:defRPr b="0" i="0" u="none" strike="noStrike">
                    <a:solidFill>
                      <a:srgbClr val="000000"/>
                    </a:solidFill>
                    <a:latin typeface="Arial"/>
                  </a:defRPr>
                </a:pPr>
                <a:r>
                  <a:rPr lang="en-US" b="0" i="0" u="none" strike="noStrike">
                    <a:solidFill>
                      <a:srgbClr val="000000"/>
                    </a:solidFill>
                    <a:latin typeface="Arial"/>
                  </a:rPr>
                  <a:t>Accuracy (%)</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A6B7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Mean Accuracy (%)</c:v>
                </c:pt>
              </c:strCache>
            </c:strRef>
          </c:tx>
          <c:spPr>
            <a:solidFill>
              <a:srgbClr val="1C8577"/>
            </a:solidFill>
            <a:effectLst/>
          </c:spPr>
          <c:invertIfNegative val="0"/>
          <c:dLbls>
            <c:numFmt formatCode="0.0" sourceLinked="0"/>
            <c:spPr>
              <a:noFill/>
              <a:ln>
                <a:noFill/>
              </a:ln>
              <a:effectLst/>
            </c:spPr>
            <c:txPr>
              <a:bodyPr/>
              <a:lstStyle/>
              <a:p>
                <a:pPr>
                  <a:defRPr sz="1100" b="0" i="0" u="none" strike="noStrike">
                    <a:solidFill>
                      <a:srgbClr val="12294D"/>
                    </a:solidFill>
                    <a:latin typeface="Arial"/>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0%</c:v>
                </c:pt>
                <c:pt idx="1">
                  <c:v>5%</c:v>
                </c:pt>
                <c:pt idx="2">
                  <c:v>10%</c:v>
                </c:pt>
                <c:pt idx="3">
                  <c:v>20%</c:v>
                </c:pt>
              </c:strCache>
            </c:strRef>
          </c:cat>
          <c:val>
            <c:numRef>
              <c:f>Sheet1!$B$2:$B$5</c:f>
              <c:numCache>
                <c:formatCode>General</c:formatCode>
                <c:ptCount val="4"/>
                <c:pt idx="0">
                  <c:v>50.73</c:v>
                </c:pt>
                <c:pt idx="1">
                  <c:v>50.77</c:v>
                </c:pt>
                <c:pt idx="2">
                  <c:v>54.19</c:v>
                </c:pt>
                <c:pt idx="3">
                  <c:v>58.3</c:v>
                </c:pt>
              </c:numCache>
            </c:numRef>
          </c:val>
          <c:extLst>
            <c:ext xmlns:c16="http://schemas.microsoft.com/office/drawing/2014/chart" uri="{C3380CC4-5D6E-409C-BE32-E72D297353CC}">
              <c16:uniqueId val="{00000000-7106-4660-B638-E699FD943FFB}"/>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title>
          <c:tx>
            <c:rich>
              <a:bodyPr/>
              <a:lstStyle/>
              <a:p>
                <a:pPr>
                  <a:defRPr b="0" i="0" u="none" strike="noStrike">
                    <a:solidFill>
                      <a:srgbClr val="000000"/>
                    </a:solidFill>
                    <a:latin typeface="Arial"/>
                  </a:defRPr>
                </a:pPr>
                <a:r>
                  <a:rPr lang="en-US" b="0" i="0" u="none" strike="noStrike">
                    <a:solidFill>
                      <a:srgbClr val="000000"/>
                    </a:solidFill>
                    <a:latin typeface="Arial"/>
                  </a:rPr>
                  <a:t>% of target subject's own data used</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A6B7B"/>
                </a:solidFill>
                <a:latin typeface="Arial"/>
              </a:defRPr>
            </a:pPr>
            <a:endParaRPr lang="en-US"/>
          </a:p>
        </c:txPr>
        <c:crossAx val="2094734552"/>
        <c:crosses val="autoZero"/>
        <c:auto val="1"/>
        <c:lblAlgn val="ctr"/>
        <c:lblOffset val="100"/>
        <c:noMultiLvlLbl val="1"/>
      </c:catAx>
      <c:valAx>
        <c:axId val="2094734552"/>
        <c:scaling>
          <c:orientation val="minMax"/>
          <c:max val="65"/>
          <c:min val="0"/>
        </c:scaling>
        <c:delete val="0"/>
        <c:axPos val="l"/>
        <c:majorGridlines>
          <c:spPr>
            <a:ln w="9525" cap="flat">
              <a:solidFill>
                <a:srgbClr val="DCE3E8"/>
              </a:solidFill>
              <a:prstDash val="solid"/>
              <a:round/>
            </a:ln>
          </c:spPr>
        </c:majorGridlines>
        <c:title>
          <c:tx>
            <c:rich>
              <a:bodyPr/>
              <a:lstStyle/>
              <a:p>
                <a:pPr>
                  <a:defRPr b="0" i="0" u="none" strike="noStrike">
                    <a:solidFill>
                      <a:srgbClr val="000000"/>
                    </a:solidFill>
                    <a:latin typeface="Arial"/>
                  </a:defRPr>
                </a:pPr>
                <a:r>
                  <a:rPr lang="en-US" b="0" i="0" u="none" strike="noStrike">
                    <a:solidFill>
                      <a:srgbClr val="000000"/>
                    </a:solidFill>
                    <a:latin typeface="Arial"/>
                  </a:rPr>
                  <a:t>Accuracy (%)</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A6B7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Accuracy (%)</c:v>
                </c:pt>
              </c:strCache>
            </c:strRef>
          </c:tx>
          <c:spPr>
            <a:solidFill>
              <a:srgbClr val="2EC4B6"/>
            </a:solidFill>
            <a:effectLst/>
          </c:spPr>
          <c:invertIfNegative val="0"/>
          <c:dLbls>
            <c:numFmt formatCode="0.0" sourceLinked="0"/>
            <c:spPr>
              <a:noFill/>
              <a:ln>
                <a:noFill/>
              </a:ln>
              <a:effectLst/>
            </c:spPr>
            <c:txPr>
              <a:bodyPr/>
              <a:lstStyle/>
              <a:p>
                <a:pPr>
                  <a:defRPr sz="1200" b="0" i="0" u="none" strike="noStrike">
                    <a:solidFill>
                      <a:srgbClr val="12294D"/>
                    </a:solidFill>
                    <a:latin typeface="Arial"/>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Single-subject
(same session)</c:v>
                </c:pt>
                <c:pt idx="1">
                  <c:v>Cross-session
(same subject, diff. day)</c:v>
                </c:pt>
                <c:pt idx="2">
                  <c:v>Cross-subject LOSO
(different subject)</c:v>
                </c:pt>
              </c:strCache>
            </c:strRef>
          </c:cat>
          <c:val>
            <c:numRef>
              <c:f>Sheet1!$B$2:$B$4</c:f>
              <c:numCache>
                <c:formatCode>General</c:formatCode>
                <c:ptCount val="3"/>
                <c:pt idx="0">
                  <c:v>83</c:v>
                </c:pt>
                <c:pt idx="1">
                  <c:v>56.75</c:v>
                </c:pt>
                <c:pt idx="2">
                  <c:v>38.31</c:v>
                </c:pt>
              </c:numCache>
            </c:numRef>
          </c:val>
          <c:extLst>
            <c:ext xmlns:c16="http://schemas.microsoft.com/office/drawing/2014/chart" uri="{C3380CC4-5D6E-409C-BE32-E72D297353CC}">
              <c16:uniqueId val="{00000000-2072-47A8-8FDB-816FFB63C8AD}"/>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B2A3A"/>
                </a:solidFill>
                <a:latin typeface="Arial"/>
              </a:defRPr>
            </a:pPr>
            <a:endParaRPr lang="en-US"/>
          </a:p>
        </c:txPr>
        <c:crossAx val="2094734552"/>
        <c:crosses val="autoZero"/>
        <c:auto val="1"/>
        <c:lblAlgn val="ctr"/>
        <c:lblOffset val="100"/>
        <c:noMultiLvlLbl val="1"/>
      </c:catAx>
      <c:valAx>
        <c:axId val="2094734552"/>
        <c:scaling>
          <c:orientation val="minMax"/>
          <c:max val="95"/>
          <c:min val="0"/>
        </c:scaling>
        <c:delete val="0"/>
        <c:axPos val="l"/>
        <c:majorGridlines>
          <c:spPr>
            <a:ln w="9525" cap="flat">
              <a:solidFill>
                <a:srgbClr val="DCE3E8"/>
              </a:solidFill>
              <a:prstDash val="solid"/>
              <a:round/>
            </a:ln>
          </c:spPr>
        </c:majorGridlines>
        <c:title>
          <c:tx>
            <c:rich>
              <a:bodyPr/>
              <a:lstStyle/>
              <a:p>
                <a:pPr>
                  <a:defRPr b="0" i="0" u="none" strike="noStrike">
                    <a:solidFill>
                      <a:srgbClr val="000000"/>
                    </a:solidFill>
                    <a:latin typeface="Arial"/>
                  </a:defRPr>
                </a:pPr>
                <a:r>
                  <a:rPr lang="en-US" b="0" i="0" u="none" strike="noStrike">
                    <a:solidFill>
                      <a:srgbClr val="000000"/>
                    </a:solidFill>
                    <a:latin typeface="Arial"/>
                  </a:rPr>
                  <a:t>Accuracy (%)</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A6B7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D5047C94-EB4C-4EF5-BE7A-6B35187E054E}" type="datetimeFigureOut">
              <a:t>9/7/2026</a:t>
            </a:fld>
            <a:endParaRPr lang="fr-FR"/>
          </a:p>
        </p:txBody>
      </p:sp>
      <p:sp>
        <p:nvSpPr>
          <p:cNvPr id="4" name="Espace réservé de l'image des diapositives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56BB9E21-7CB0-4ADB-962E-CFA2639DBBFD}" type="slidenum">
              <a:t>‹#›</a:t>
            </a:fld>
            <a:endParaRPr lang="fr-FR"/>
          </a:p>
        </p:txBody>
      </p:sp>
    </p:spTree>
    <p:extLst>
      <p:ext uri="{BB962C8B-B14F-4D97-AF65-F5344CB8AC3E}">
        <p14:creationId xmlns:p14="http://schemas.microsoft.com/office/powerpoint/2010/main" val="42699029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This is a fuller review than last time — since we last spoke I've expanded well beyond the original pipeline: fixed a real data bug, run a systematic optimization sweep, tried an alternative feature method and a deep learning baseline, and tested two genuinely promising directions — subject adaptation and cross-session evaluation. I'll move quickly through the setup you've already seen and spend most of the time on what's new.</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roadmap: single-subject baseline, a data bug I found and fixed, a systematic sweep of the usual knobs, two alternative methods, and then the two experiments that actually moved the needle — subject adaptation and cross-session evaluation.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dataset as before — BCI IV 2a, 9 subjects, 22 channels, 250 Hz, four balanced motor imagery classes. One update: the pooled multi-subject total is now a clean 2,592 trials, which I'll explain in a couple of slides.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core pipeline as before, but the feature-extraction step now branches three ways — CSP, Filter-Bank CSP, and EEGNet — and I use four different evaluation protocols depending on the question: plain single-subject splits, Leave-One-Subject-Out for cross-subject generalization, cross-session for day-to-day variability, and a subject-adaptation protocol that mixes the two.</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Unchanged from before: 83% mean cross-validated accuracy for a single subject, 12 CSP components, linear SVM. This is the ceiling everything else in this deck is measured against.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work I'm genuinely proud of. I noticed the pooled dataset had an odd class imbalance, investigated one subject's raw file directly to rule out a data problem, and traced it to a code assumption: I was using a fixed number to identify each class, but MNE actually assigns numbers per file, and one subject's file happened to shift. That subject's real foot and tongue trials were silently getting labeled as left and right hand. I fixed the loading logic in all four affected notebooks and re-ran everything. The cleanest proof it worked: that subject's own held-out accuracy went from below chance to right at chance.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the corrected data, basic LOSO sits at 31.4%, up modestly from the buggy 28.6%. Look at the per-subject table — A04T is no longer the standout worst performer. The CSP sweep shows something different from single-subject too: more components don't keep helping past 6, which tells us the cross-subject ceiling isn't about feature count.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swept five different knobs independently: CSP components, classifier type, CSP regularization, frequency band, and epoch time window. Only two things mattered at all — switching to LDA over SVM, and shortening the epoch window to 0-3 seconds. Regularization and frequency band tuning did essentially nothing. That's an important negative result: it tells me the ceiling here isn't about signal-processing detail, it's something more fundamental about pooling different people's data.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tried two alternatives to plain CSP: Filter-Bank CSP, which splits the signal into six frequency sub-bands, and EEGNet, a deep learning model built for EEG. Neither beat the simple, well-tuned CSP-plus-LDA approach. FBCSP actually did slightly worse, and EEGNet came in about even. My read: EEGNet just doesn't have enough training data here to show its usual advantage. This tells me feature-engineering and model architecture aren't where the next improvement is going to come from.</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best finding in the whole project. Instead of training purely on other people's data, I trained on 8 subjects plus a small slice of the target subject's own data, then tested on their separate session. Even 20% of that subject's own data pushes accuracy up by over 7 points — and, importantly, makes results more consistent across subjects, not just better on average. Subjects that generalize worst with zero calibration data benefit the most from a little of their own data. This points clearly at personalization as the next direction, rather than more feature engineering.</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clearest way I can show why subject adaptation matters. If I train and test on the same person, just on a different day, accuracy is 56.75% — a real drop from 83%, but nowhere near as bad as training on other people entirely, which caps out around 38%. That gap tells us plainly: the hard part of this problem is who the data comes from, not when it was recorded. That's exactly why the subject-adaptation result on the previous slide is the most promising direction going forward.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I want to be precise about what stage this is at. The investigation phase is genuinely complete and I'm confident in the findings, because they're reproducible and I caught and documented a real bug before it could undermine the results. Cross-subject generalization is hard, it's specifically about the person and not the day, and neither fancier features nor deep learning fixed it -- subject adaptation did. What's left is engineering: real hardware, live acquisition, and pushing the adaptation result further. I'd describe this as a completed first half, not an unfinished whole project.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4.png"/><Relationship Id="rId7"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6.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94D"/>
        </a:solidFill>
        <a:effectLst/>
      </p:bgPr>
    </p:bg>
    <p:spTree>
      <p:nvGrpSpPr>
        <p:cNvPr id="1" name=""/>
        <p:cNvGrpSpPr/>
        <p:nvPr/>
      </p:nvGrpSpPr>
      <p:grpSpPr>
        <a:xfrm>
          <a:off x="0" y="0"/>
          <a:ext cx="0" cy="0"/>
          <a:chOff x="0" y="0"/>
          <a:chExt cx="0" cy="0"/>
        </a:xfrm>
      </p:grpSpPr>
      <p:sp>
        <p:nvSpPr>
          <p:cNvPr id="2" name="Shape 0"/>
          <p:cNvSpPr/>
          <p:nvPr/>
        </p:nvSpPr>
        <p:spPr>
          <a:xfrm>
            <a:off x="9692640" y="-1463040"/>
            <a:ext cx="4206240" cy="4206240"/>
          </a:xfrm>
          <a:prstGeom prst="ellipse">
            <a:avLst/>
          </a:prstGeom>
          <a:solidFill>
            <a:srgbClr val="1C7293">
              <a:alpha val="22000"/>
            </a:srgbClr>
          </a:solidFill>
          <a:ln/>
        </p:spPr>
      </p:sp>
      <p:sp>
        <p:nvSpPr>
          <p:cNvPr id="3" name="Shape 1"/>
          <p:cNvSpPr/>
          <p:nvPr/>
        </p:nvSpPr>
        <p:spPr>
          <a:xfrm>
            <a:off x="-1280160" y="4480560"/>
            <a:ext cx="3840480" cy="3840480"/>
          </a:xfrm>
          <a:prstGeom prst="ellipse">
            <a:avLst/>
          </a:prstGeom>
          <a:solidFill>
            <a:srgbClr val="2EC4B6">
              <a:alpha val="15000"/>
            </a:srgbClr>
          </a:solidFill>
          <a:ln/>
        </p:spPr>
      </p:sp>
      <p:sp>
        <p:nvSpPr>
          <p:cNvPr id="4" name="Text 2"/>
          <p:cNvSpPr/>
          <p:nvPr/>
        </p:nvSpPr>
        <p:spPr>
          <a:xfrm>
            <a:off x="822960" y="1417320"/>
            <a:ext cx="9144000" cy="365760"/>
          </a:xfrm>
          <a:prstGeom prst="rect">
            <a:avLst/>
          </a:prstGeom>
          <a:noFill/>
          <a:ln/>
        </p:spPr>
        <p:txBody>
          <a:bodyPr wrap="square" lIns="0" tIns="0" rIns="0" bIns="0" rtlCol="0" anchor="ctr"/>
          <a:lstStyle/>
          <a:p>
            <a:pPr marL="0" indent="0">
              <a:buNone/>
            </a:pPr>
            <a:r>
              <a:rPr lang="en-US" sz="1300" b="1" kern="0" spc="250" dirty="0">
                <a:solidFill>
                  <a:srgbClr val="2EC4B6"/>
                </a:solidFill>
                <a:latin typeface="Calibri" pitchFamily="34" charset="0"/>
                <a:ea typeface="Calibri" pitchFamily="34" charset="-122"/>
                <a:cs typeface="Calibri" pitchFamily="34" charset="-120"/>
              </a:rPr>
              <a:t>INTERNSHIP PROGRESS REVIEW</a:t>
            </a:r>
            <a:endParaRPr lang="en-US" sz="1300" dirty="0"/>
          </a:p>
        </p:txBody>
      </p:sp>
      <p:sp>
        <p:nvSpPr>
          <p:cNvPr id="5" name="Text 3"/>
          <p:cNvSpPr/>
          <p:nvPr/>
        </p:nvSpPr>
        <p:spPr>
          <a:xfrm>
            <a:off x="822960" y="1828800"/>
            <a:ext cx="10241280" cy="1737360"/>
          </a:xfrm>
          <a:prstGeom prst="rect">
            <a:avLst/>
          </a:prstGeom>
          <a:noFill/>
          <a:ln/>
        </p:spPr>
        <p:txBody>
          <a:bodyPr wrap="square" lIns="0" tIns="0" rIns="0" bIns="0" rtlCol="0" anchor="ctr"/>
          <a:lstStyle/>
          <a:p>
            <a:pPr marL="0" indent="0">
              <a:lnSpc>
                <a:spcPct val="108000"/>
              </a:lnSpc>
              <a:buNone/>
            </a:pPr>
            <a:r>
              <a:rPr lang="en-US" sz="3800" b="1" dirty="0">
                <a:solidFill>
                  <a:srgbClr val="FFFFFF"/>
                </a:solidFill>
                <a:latin typeface="Cambria" pitchFamily="34" charset="0"/>
                <a:ea typeface="Cambria" pitchFamily="34" charset="-122"/>
                <a:cs typeface="Cambria" pitchFamily="34" charset="-120"/>
              </a:rPr>
              <a:t>EEG-Based Motor Imagery Classification</a:t>
            </a:r>
            <a:endParaRPr lang="en-US" sz="3800" dirty="0"/>
          </a:p>
          <a:p>
            <a:pPr marL="0" indent="0">
              <a:lnSpc>
                <a:spcPct val="108000"/>
              </a:lnSpc>
              <a:buNone/>
            </a:pPr>
            <a:r>
              <a:rPr lang="en-US" sz="3800" b="1" dirty="0">
                <a:solidFill>
                  <a:srgbClr val="FFFFFF"/>
                </a:solidFill>
                <a:latin typeface="Cambria" pitchFamily="34" charset="0"/>
                <a:ea typeface="Cambria" pitchFamily="34" charset="-122"/>
                <a:cs typeface="Cambria" pitchFamily="34" charset="-120"/>
              </a:rPr>
              <a:t>for BCI Object Control</a:t>
            </a:r>
            <a:endParaRPr lang="en-US" sz="3800" dirty="0"/>
          </a:p>
        </p:txBody>
      </p:sp>
      <p:sp>
        <p:nvSpPr>
          <p:cNvPr id="6" name="Text 4"/>
          <p:cNvSpPr/>
          <p:nvPr/>
        </p:nvSpPr>
        <p:spPr>
          <a:xfrm>
            <a:off x="822960" y="3520440"/>
            <a:ext cx="9326880" cy="640080"/>
          </a:xfrm>
          <a:prstGeom prst="rect">
            <a:avLst/>
          </a:prstGeom>
          <a:noFill/>
          <a:ln/>
        </p:spPr>
        <p:txBody>
          <a:bodyPr wrap="square" lIns="0" tIns="0" rIns="0" bIns="0" rtlCol="0" anchor="ctr"/>
          <a:lstStyle/>
          <a:p>
            <a:pPr marL="0" indent="0">
              <a:buNone/>
            </a:pPr>
            <a:r>
              <a:rPr lang="en-US" sz="1500" i="1" dirty="0">
                <a:solidFill>
                  <a:srgbClr val="C9D6E3"/>
                </a:solidFill>
                <a:latin typeface="Calibri" pitchFamily="34" charset="0"/>
                <a:ea typeface="Calibri" pitchFamily="34" charset="-122"/>
                <a:cs typeface="Calibri" pitchFamily="34" charset="-120"/>
              </a:rPr>
              <a:t>From a single-subject baseline to a systematic study of what limits cross-subject generalization</a:t>
            </a:r>
            <a:endParaRPr lang="en-US" sz="1500" dirty="0"/>
          </a:p>
        </p:txBody>
      </p:sp>
      <p:sp>
        <p:nvSpPr>
          <p:cNvPr id="7" name="Shape 5"/>
          <p:cNvSpPr/>
          <p:nvPr/>
        </p:nvSpPr>
        <p:spPr>
          <a:xfrm>
            <a:off x="822960" y="4480560"/>
            <a:ext cx="566928" cy="566928"/>
          </a:xfrm>
          <a:prstGeom prst="ellipse">
            <a:avLst/>
          </a:prstGeom>
          <a:solidFill>
            <a:srgbClr val="1C7293"/>
          </a:solidFill>
          <a:ln/>
        </p:spPr>
      </p:sp>
      <p:pic>
        <p:nvPicPr>
          <p:cNvPr id="8" name="Image 0" descr="icons/brain_FFFFFF.png"/>
          <p:cNvPicPr>
            <a:picLocks noChangeAspect="1"/>
          </p:cNvPicPr>
          <p:nvPr/>
        </p:nvPicPr>
        <p:blipFill>
          <a:blip r:embed="rId3"/>
          <a:stretch>
            <a:fillRect/>
          </a:stretch>
        </p:blipFill>
        <p:spPr>
          <a:xfrm>
            <a:off x="970361" y="4627961"/>
            <a:ext cx="272125" cy="272125"/>
          </a:xfrm>
          <a:prstGeom prst="rect">
            <a:avLst/>
          </a:prstGeom>
        </p:spPr>
      </p:pic>
      <p:sp>
        <p:nvSpPr>
          <p:cNvPr id="9" name="Text 6"/>
          <p:cNvSpPr/>
          <p:nvPr/>
        </p:nvSpPr>
        <p:spPr>
          <a:xfrm>
            <a:off x="1600200" y="4498848"/>
            <a:ext cx="5486400" cy="274320"/>
          </a:xfrm>
          <a:prstGeom prst="rect">
            <a:avLst/>
          </a:prstGeom>
          <a:noFill/>
          <a:ln/>
        </p:spPr>
        <p:txBody>
          <a:bodyPr wrap="square" lIns="0" tIns="0" rIns="0" bIns="0" rtlCol="0" anchor="ctr"/>
          <a:lstStyle/>
          <a:p>
            <a:r>
              <a:rPr lang="en-US" sz="1300" b="1" dirty="0">
                <a:solidFill>
                  <a:srgbClr val="FFFFFF"/>
                </a:solidFill>
                <a:latin typeface="Calibri"/>
                <a:ea typeface="Calibri"/>
                <a:cs typeface="Calibri"/>
              </a:rPr>
              <a:t>Presented by: </a:t>
            </a:r>
            <a:r>
              <a:rPr lang="en-US" sz="1300" dirty="0" err="1">
                <a:solidFill>
                  <a:srgbClr val="C9D6E3"/>
                </a:solidFill>
                <a:latin typeface="Calibri"/>
                <a:ea typeface="Calibri"/>
                <a:cs typeface="Calibri"/>
              </a:rPr>
              <a:t>Tabbabi</a:t>
            </a:r>
            <a:r>
              <a:rPr lang="en-US" sz="1300" dirty="0">
                <a:solidFill>
                  <a:srgbClr val="C9D6E3"/>
                </a:solidFill>
                <a:latin typeface="Calibri"/>
                <a:ea typeface="Calibri"/>
                <a:cs typeface="Calibri"/>
              </a:rPr>
              <a:t> Chahine</a:t>
            </a:r>
            <a:endParaRPr lang="en-US" sz="1300" dirty="0">
              <a:latin typeface="Calibri"/>
              <a:ea typeface="Calibri"/>
              <a:cs typeface="Calibri"/>
            </a:endParaRPr>
          </a:p>
        </p:txBody>
      </p:sp>
      <p:sp>
        <p:nvSpPr>
          <p:cNvPr id="11" name="Text 8"/>
          <p:cNvSpPr/>
          <p:nvPr/>
        </p:nvSpPr>
        <p:spPr>
          <a:xfrm>
            <a:off x="1600200" y="4913376"/>
            <a:ext cx="548640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Dataset:  </a:t>
            </a:r>
            <a:r>
              <a:rPr lang="en-US" sz="1300" dirty="0">
                <a:solidFill>
                  <a:srgbClr val="C9D6E3"/>
                </a:solidFill>
                <a:latin typeface="Calibri" pitchFamily="34" charset="0"/>
                <a:ea typeface="Calibri" pitchFamily="34" charset="-122"/>
                <a:cs typeface="Calibri" pitchFamily="34" charset="-120"/>
              </a:rPr>
              <a:t>BCI Competition IV — Dataset 2a</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01168"/>
            <a:ext cx="9144000"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PROJECT OBJECTIVE</a:t>
            </a:r>
            <a:endParaRPr lang="en-US" sz="1200" dirty="0"/>
          </a:p>
        </p:txBody>
      </p:sp>
      <p:sp>
        <p:nvSpPr>
          <p:cNvPr id="3" name="Text 1"/>
          <p:cNvSpPr/>
          <p:nvPr/>
        </p:nvSpPr>
        <p:spPr>
          <a:xfrm>
            <a:off x="548640" y="411480"/>
            <a:ext cx="11064240" cy="822960"/>
          </a:xfrm>
          <a:prstGeom prst="rect">
            <a:avLst/>
          </a:prstGeom>
          <a:noFill/>
          <a:ln/>
        </p:spPr>
        <p:txBody>
          <a:bodyPr wrap="square" lIns="0" tIns="0" rIns="0" bIns="0" rtlCol="0" anchor="ctr"/>
          <a:lstStyle/>
          <a:p>
            <a:pPr marL="0" indent="0" algn="l">
              <a:buNone/>
            </a:pPr>
            <a:r>
              <a:rPr lang="en-US" sz="3000" b="1" dirty="0">
                <a:solidFill>
                  <a:srgbClr val="12294D"/>
                </a:solidFill>
                <a:latin typeface="Cambria" pitchFamily="34" charset="0"/>
                <a:ea typeface="Cambria" pitchFamily="34" charset="-122"/>
                <a:cs typeface="Cambria" pitchFamily="34" charset="-120"/>
              </a:rPr>
              <a:t>From Imagined Movement to Machine Command</a:t>
            </a:r>
            <a:endParaRPr lang="en-US" sz="3000" dirty="0"/>
          </a:p>
        </p:txBody>
      </p:sp>
      <p:sp>
        <p:nvSpPr>
          <p:cNvPr id="4" name="Text 2"/>
          <p:cNvSpPr/>
          <p:nvPr/>
        </p:nvSpPr>
        <p:spPr>
          <a:xfrm>
            <a:off x="11365992" y="6400800"/>
            <a:ext cx="548640" cy="274320"/>
          </a:xfrm>
          <a:prstGeom prst="rect">
            <a:avLst/>
          </a:prstGeom>
          <a:noFill/>
          <a:ln/>
        </p:spPr>
        <p:txBody>
          <a:bodyPr wrap="square" lIns="0" tIns="0" rIns="0" bIns="0" rtlCol="0" anchor="ctr"/>
          <a:lstStyle/>
          <a:p>
            <a:pPr marL="0" indent="0" algn="r">
              <a:buNone/>
            </a:pPr>
            <a:r>
              <a:rPr lang="en-US" sz="1000" dirty="0">
                <a:solidFill>
                  <a:srgbClr val="A9B4BE"/>
                </a:solidFill>
                <a:latin typeface="Calibri" pitchFamily="34" charset="0"/>
                <a:ea typeface="Calibri" pitchFamily="34" charset="-122"/>
                <a:cs typeface="Calibri" pitchFamily="34" charset="-120"/>
              </a:rPr>
              <a:t>02</a:t>
            </a:r>
            <a:endParaRPr lang="en-US" sz="1000" dirty="0"/>
          </a:p>
        </p:txBody>
      </p:sp>
      <p:sp>
        <p:nvSpPr>
          <p:cNvPr id="5" name="Text 3"/>
          <p:cNvSpPr/>
          <p:nvPr/>
        </p:nvSpPr>
        <p:spPr>
          <a:xfrm>
            <a:off x="548640" y="1691640"/>
            <a:ext cx="6126480" cy="4023360"/>
          </a:xfrm>
          <a:prstGeom prst="rect">
            <a:avLst/>
          </a:prstGeom>
          <a:noFill/>
          <a:ln/>
        </p:spPr>
        <p:txBody>
          <a:bodyPr wrap="square" lIns="0" tIns="0" rIns="0" bIns="0" rtlCol="0" anchor="t"/>
          <a:lstStyle/>
          <a:p>
            <a:pPr marL="228600" indent="-228600">
              <a:spcAft>
                <a:spcPts val="1600"/>
              </a:spcAft>
              <a:buSzPct val="100000"/>
              <a:buChar char="•"/>
            </a:pPr>
            <a:r>
              <a:rPr lang="en-US" sz="1550" dirty="0">
                <a:solidFill>
                  <a:srgbClr val="1B2A3A"/>
                </a:solidFill>
                <a:latin typeface="Calibri" pitchFamily="34" charset="0"/>
                <a:ea typeface="Calibri" pitchFamily="34" charset="-122"/>
                <a:cs typeface="Calibri" pitchFamily="34" charset="-120"/>
              </a:rPr>
              <a:t>Classify motor imagery EEG signals into 4 classes: Left Hand, Right Hand, Foot, Tongue.</a:t>
            </a:r>
            <a:endParaRPr lang="en-US" sz="1550" dirty="0"/>
          </a:p>
          <a:p>
            <a:pPr marL="228600" indent="-228600">
              <a:spcAft>
                <a:spcPts val="1600"/>
              </a:spcAft>
              <a:buSzPct val="100000"/>
              <a:buChar char="•"/>
            </a:pPr>
            <a:r>
              <a:rPr lang="en-US" sz="1550" dirty="0">
                <a:solidFill>
                  <a:srgbClr val="1B2A3A"/>
                </a:solidFill>
                <a:latin typeface="Calibri" pitchFamily="34" charset="0"/>
                <a:ea typeface="Calibri" pitchFamily="34" charset="-122"/>
                <a:cs typeface="Calibri" pitchFamily="34" charset="-120"/>
              </a:rPr>
              <a:t>Long-term goal: feed the predicted class into a BCI system to control an external object in real time.</a:t>
            </a:r>
            <a:endParaRPr lang="en-US" sz="1550" dirty="0"/>
          </a:p>
          <a:p>
            <a:pPr marL="228600" indent="-228600">
              <a:spcAft>
                <a:spcPts val="1600"/>
              </a:spcAft>
              <a:buSzPct val="100000"/>
              <a:buChar char="•"/>
            </a:pPr>
            <a:r>
              <a:rPr lang="en-US" sz="1550" dirty="0">
                <a:solidFill>
                  <a:srgbClr val="1B2A3A"/>
                </a:solidFill>
                <a:latin typeface="Calibri" pitchFamily="34" charset="0"/>
                <a:ea typeface="Calibri" pitchFamily="34" charset="-122"/>
                <a:cs typeface="Calibri" pitchFamily="34" charset="-120"/>
              </a:rPr>
              <a:t>This phase: understand why single-subject accuracy (83%) is so much higher than cross-subject accuracy, and find what actually closes that gap.</a:t>
            </a:r>
            <a:endParaRPr lang="en-US" sz="1550" dirty="0"/>
          </a:p>
        </p:txBody>
      </p:sp>
      <p:sp>
        <p:nvSpPr>
          <p:cNvPr id="6" name="Shape 4"/>
          <p:cNvSpPr/>
          <p:nvPr/>
        </p:nvSpPr>
        <p:spPr>
          <a:xfrm>
            <a:off x="6903720" y="1600200"/>
            <a:ext cx="4754880" cy="4297680"/>
          </a:xfrm>
          <a:prstGeom prst="roundRect">
            <a:avLst>
              <a:gd name="adj" fmla="val 2553"/>
            </a:avLst>
          </a:prstGeom>
          <a:solidFill>
            <a:srgbClr val="F2F5F7"/>
          </a:solidFill>
          <a:ln/>
        </p:spPr>
      </p:sp>
      <p:sp>
        <p:nvSpPr>
          <p:cNvPr id="7" name="Text 5"/>
          <p:cNvSpPr/>
          <p:nvPr/>
        </p:nvSpPr>
        <p:spPr>
          <a:xfrm>
            <a:off x="7223760" y="1874520"/>
            <a:ext cx="4114800" cy="274320"/>
          </a:xfrm>
          <a:prstGeom prst="rect">
            <a:avLst/>
          </a:prstGeom>
          <a:noFill/>
          <a:ln/>
        </p:spPr>
        <p:txBody>
          <a:bodyPr wrap="square" lIns="0" tIns="0" rIns="0" bIns="0" rtlCol="0" anchor="ctr"/>
          <a:lstStyle/>
          <a:p>
            <a:pPr marL="0" indent="0">
              <a:buNone/>
            </a:pPr>
            <a:r>
              <a:rPr lang="en-US" sz="1150" b="1" kern="0" spc="150" dirty="0">
                <a:solidFill>
                  <a:srgbClr val="1C7293"/>
                </a:solidFill>
                <a:latin typeface="Calibri" pitchFamily="34" charset="0"/>
                <a:ea typeface="Calibri" pitchFamily="34" charset="-122"/>
                <a:cs typeface="Calibri" pitchFamily="34" charset="-120"/>
              </a:rPr>
              <a:t>TODAY'S STORY</a:t>
            </a:r>
            <a:endParaRPr lang="en-US" sz="1150" dirty="0"/>
          </a:p>
        </p:txBody>
      </p:sp>
      <p:sp>
        <p:nvSpPr>
          <p:cNvPr id="8" name="Shape 6"/>
          <p:cNvSpPr/>
          <p:nvPr/>
        </p:nvSpPr>
        <p:spPr>
          <a:xfrm>
            <a:off x="7223760" y="2377440"/>
            <a:ext cx="365760" cy="365760"/>
          </a:xfrm>
          <a:prstGeom prst="ellipse">
            <a:avLst/>
          </a:prstGeom>
          <a:solidFill>
            <a:srgbClr val="12294D"/>
          </a:solidFill>
          <a:ln/>
        </p:spPr>
      </p:sp>
      <p:pic>
        <p:nvPicPr>
          <p:cNvPr id="9" name="Image 0" descr="icons/check_FFFFFF.png"/>
          <p:cNvPicPr>
            <a:picLocks noChangeAspect="1"/>
          </p:cNvPicPr>
          <p:nvPr/>
        </p:nvPicPr>
        <p:blipFill>
          <a:blip r:embed="rId3"/>
          <a:stretch>
            <a:fillRect/>
          </a:stretch>
        </p:blipFill>
        <p:spPr>
          <a:xfrm>
            <a:off x="7318858" y="2472538"/>
            <a:ext cx="175565" cy="175565"/>
          </a:xfrm>
          <a:prstGeom prst="rect">
            <a:avLst/>
          </a:prstGeom>
        </p:spPr>
      </p:pic>
      <p:sp>
        <p:nvSpPr>
          <p:cNvPr id="10" name="Text 7"/>
          <p:cNvSpPr/>
          <p:nvPr/>
        </p:nvSpPr>
        <p:spPr>
          <a:xfrm>
            <a:off x="7726680" y="2359152"/>
            <a:ext cx="3611880" cy="411480"/>
          </a:xfrm>
          <a:prstGeom prst="rect">
            <a:avLst/>
          </a:prstGeom>
          <a:noFill/>
          <a:ln/>
        </p:spPr>
        <p:txBody>
          <a:bodyPr wrap="square" lIns="0" tIns="0" rIns="0" bIns="0" rtlCol="0" anchor="ctr"/>
          <a:lstStyle/>
          <a:p>
            <a:pPr marL="0" indent="0">
              <a:buNone/>
            </a:pPr>
            <a:r>
              <a:rPr lang="en-US" sz="1250" dirty="0">
                <a:solidFill>
                  <a:srgbClr val="1B2A3A"/>
                </a:solidFill>
                <a:latin typeface="Calibri" pitchFamily="34" charset="0"/>
                <a:ea typeface="Calibri" pitchFamily="34" charset="-122"/>
                <a:cs typeface="Calibri" pitchFamily="34" charset="-120"/>
              </a:rPr>
              <a:t>Single-subject baseline: 83%</a:t>
            </a:r>
            <a:endParaRPr lang="en-US" sz="1250" dirty="0"/>
          </a:p>
        </p:txBody>
      </p:sp>
      <p:sp>
        <p:nvSpPr>
          <p:cNvPr id="11" name="Shape 8"/>
          <p:cNvSpPr/>
          <p:nvPr/>
        </p:nvSpPr>
        <p:spPr>
          <a:xfrm>
            <a:off x="7223760" y="2944368"/>
            <a:ext cx="365760" cy="365760"/>
          </a:xfrm>
          <a:prstGeom prst="ellipse">
            <a:avLst/>
          </a:prstGeom>
          <a:solidFill>
            <a:srgbClr val="12294D"/>
          </a:solidFill>
          <a:ln/>
        </p:spPr>
      </p:sp>
      <p:pic>
        <p:nvPicPr>
          <p:cNvPr id="12" name="Image 1" descr="icons/check_FFFFFF.png"/>
          <p:cNvPicPr>
            <a:picLocks noChangeAspect="1"/>
          </p:cNvPicPr>
          <p:nvPr/>
        </p:nvPicPr>
        <p:blipFill>
          <a:blip r:embed="rId3"/>
          <a:stretch>
            <a:fillRect/>
          </a:stretch>
        </p:blipFill>
        <p:spPr>
          <a:xfrm>
            <a:off x="7318858" y="3039466"/>
            <a:ext cx="175565" cy="175565"/>
          </a:xfrm>
          <a:prstGeom prst="rect">
            <a:avLst/>
          </a:prstGeom>
        </p:spPr>
      </p:pic>
      <p:sp>
        <p:nvSpPr>
          <p:cNvPr id="13" name="Text 9"/>
          <p:cNvSpPr/>
          <p:nvPr/>
        </p:nvSpPr>
        <p:spPr>
          <a:xfrm>
            <a:off x="7726680" y="2926080"/>
            <a:ext cx="3611880" cy="411480"/>
          </a:xfrm>
          <a:prstGeom prst="rect">
            <a:avLst/>
          </a:prstGeom>
          <a:noFill/>
          <a:ln/>
        </p:spPr>
        <p:txBody>
          <a:bodyPr wrap="square" lIns="0" tIns="0" rIns="0" bIns="0" rtlCol="0" anchor="ctr"/>
          <a:lstStyle/>
          <a:p>
            <a:pPr marL="0" indent="0">
              <a:buNone/>
            </a:pPr>
            <a:r>
              <a:rPr lang="en-US" sz="1250" dirty="0">
                <a:solidFill>
                  <a:srgbClr val="1B2A3A"/>
                </a:solidFill>
                <a:latin typeface="Calibri" pitchFamily="34" charset="0"/>
                <a:ea typeface="Calibri" pitchFamily="34" charset="-122"/>
                <a:cs typeface="Calibri" pitchFamily="34" charset="-120"/>
              </a:rPr>
              <a:t>Found &amp; fixed a data bug</a:t>
            </a:r>
            <a:endParaRPr lang="en-US" sz="1250" dirty="0"/>
          </a:p>
        </p:txBody>
      </p:sp>
      <p:sp>
        <p:nvSpPr>
          <p:cNvPr id="14" name="Shape 10"/>
          <p:cNvSpPr/>
          <p:nvPr/>
        </p:nvSpPr>
        <p:spPr>
          <a:xfrm>
            <a:off x="7223760" y="3511296"/>
            <a:ext cx="365760" cy="365760"/>
          </a:xfrm>
          <a:prstGeom prst="ellipse">
            <a:avLst/>
          </a:prstGeom>
          <a:solidFill>
            <a:srgbClr val="12294D"/>
          </a:solidFill>
          <a:ln/>
        </p:spPr>
      </p:sp>
      <p:pic>
        <p:nvPicPr>
          <p:cNvPr id="15" name="Image 2" descr="icons/check_FFFFFF.png"/>
          <p:cNvPicPr>
            <a:picLocks noChangeAspect="1"/>
          </p:cNvPicPr>
          <p:nvPr/>
        </p:nvPicPr>
        <p:blipFill>
          <a:blip r:embed="rId3"/>
          <a:stretch>
            <a:fillRect/>
          </a:stretch>
        </p:blipFill>
        <p:spPr>
          <a:xfrm>
            <a:off x="7318858" y="3606394"/>
            <a:ext cx="175565" cy="175565"/>
          </a:xfrm>
          <a:prstGeom prst="rect">
            <a:avLst/>
          </a:prstGeom>
        </p:spPr>
      </p:pic>
      <p:sp>
        <p:nvSpPr>
          <p:cNvPr id="16" name="Text 11"/>
          <p:cNvSpPr/>
          <p:nvPr/>
        </p:nvSpPr>
        <p:spPr>
          <a:xfrm>
            <a:off x="7726680" y="3493008"/>
            <a:ext cx="3611880" cy="411480"/>
          </a:xfrm>
          <a:prstGeom prst="rect">
            <a:avLst/>
          </a:prstGeom>
          <a:noFill/>
          <a:ln/>
        </p:spPr>
        <p:txBody>
          <a:bodyPr wrap="square" lIns="0" tIns="0" rIns="0" bIns="0" rtlCol="0" anchor="ctr"/>
          <a:lstStyle/>
          <a:p>
            <a:pPr marL="0" indent="0">
              <a:buNone/>
            </a:pPr>
            <a:r>
              <a:rPr lang="en-US" sz="1250" dirty="0">
                <a:solidFill>
                  <a:srgbClr val="1B2A3A"/>
                </a:solidFill>
                <a:latin typeface="Calibri" pitchFamily="34" charset="0"/>
                <a:ea typeface="Calibri" pitchFamily="34" charset="-122"/>
                <a:cs typeface="Calibri" pitchFamily="34" charset="-120"/>
              </a:rPr>
              <a:t>Swept CSP / classifier / window</a:t>
            </a:r>
            <a:endParaRPr lang="en-US" sz="1250" dirty="0"/>
          </a:p>
        </p:txBody>
      </p:sp>
      <p:sp>
        <p:nvSpPr>
          <p:cNvPr id="17" name="Shape 12"/>
          <p:cNvSpPr/>
          <p:nvPr/>
        </p:nvSpPr>
        <p:spPr>
          <a:xfrm>
            <a:off x="7223760" y="4078224"/>
            <a:ext cx="365760" cy="365760"/>
          </a:xfrm>
          <a:prstGeom prst="ellipse">
            <a:avLst/>
          </a:prstGeom>
          <a:solidFill>
            <a:srgbClr val="12294D"/>
          </a:solidFill>
          <a:ln/>
        </p:spPr>
      </p:sp>
      <p:pic>
        <p:nvPicPr>
          <p:cNvPr id="18" name="Image 3" descr="icons/check_FFFFFF.png"/>
          <p:cNvPicPr>
            <a:picLocks noChangeAspect="1"/>
          </p:cNvPicPr>
          <p:nvPr/>
        </p:nvPicPr>
        <p:blipFill>
          <a:blip r:embed="rId3"/>
          <a:stretch>
            <a:fillRect/>
          </a:stretch>
        </p:blipFill>
        <p:spPr>
          <a:xfrm>
            <a:off x="7318858" y="4173322"/>
            <a:ext cx="175565" cy="175565"/>
          </a:xfrm>
          <a:prstGeom prst="rect">
            <a:avLst/>
          </a:prstGeom>
        </p:spPr>
      </p:pic>
      <p:sp>
        <p:nvSpPr>
          <p:cNvPr id="19" name="Text 13"/>
          <p:cNvSpPr/>
          <p:nvPr/>
        </p:nvSpPr>
        <p:spPr>
          <a:xfrm>
            <a:off x="7726680" y="4059936"/>
            <a:ext cx="3611880" cy="411480"/>
          </a:xfrm>
          <a:prstGeom prst="rect">
            <a:avLst/>
          </a:prstGeom>
          <a:noFill/>
          <a:ln/>
        </p:spPr>
        <p:txBody>
          <a:bodyPr wrap="square" lIns="0" tIns="0" rIns="0" bIns="0" rtlCol="0" anchor="ctr"/>
          <a:lstStyle/>
          <a:p>
            <a:pPr marL="0" indent="0">
              <a:buNone/>
            </a:pPr>
            <a:r>
              <a:rPr lang="en-US" sz="1250" dirty="0">
                <a:solidFill>
                  <a:srgbClr val="1B2A3A"/>
                </a:solidFill>
                <a:latin typeface="Calibri" pitchFamily="34" charset="0"/>
                <a:ea typeface="Calibri" pitchFamily="34" charset="-122"/>
                <a:cs typeface="Calibri" pitchFamily="34" charset="-120"/>
              </a:rPr>
              <a:t>Tried FBCSP &amp; deep learning</a:t>
            </a:r>
            <a:endParaRPr lang="en-US" sz="1250" dirty="0"/>
          </a:p>
        </p:txBody>
      </p:sp>
      <p:sp>
        <p:nvSpPr>
          <p:cNvPr id="20" name="Shape 14"/>
          <p:cNvSpPr/>
          <p:nvPr/>
        </p:nvSpPr>
        <p:spPr>
          <a:xfrm>
            <a:off x="7223760" y="4645152"/>
            <a:ext cx="365760" cy="365760"/>
          </a:xfrm>
          <a:prstGeom prst="ellipse">
            <a:avLst/>
          </a:prstGeom>
          <a:solidFill>
            <a:srgbClr val="2EC4B6"/>
          </a:solidFill>
          <a:ln/>
        </p:spPr>
      </p:sp>
      <p:pic>
        <p:nvPicPr>
          <p:cNvPr id="21" name="Image 4" descr="icons/check_FFFFFF.png"/>
          <p:cNvPicPr>
            <a:picLocks noChangeAspect="1"/>
          </p:cNvPicPr>
          <p:nvPr/>
        </p:nvPicPr>
        <p:blipFill>
          <a:blip r:embed="rId3"/>
          <a:stretch>
            <a:fillRect/>
          </a:stretch>
        </p:blipFill>
        <p:spPr>
          <a:xfrm>
            <a:off x="7318858" y="4740250"/>
            <a:ext cx="175565" cy="175565"/>
          </a:xfrm>
          <a:prstGeom prst="rect">
            <a:avLst/>
          </a:prstGeom>
        </p:spPr>
      </p:pic>
      <p:sp>
        <p:nvSpPr>
          <p:cNvPr id="22" name="Text 15"/>
          <p:cNvSpPr/>
          <p:nvPr/>
        </p:nvSpPr>
        <p:spPr>
          <a:xfrm>
            <a:off x="7726680" y="4626864"/>
            <a:ext cx="3611880" cy="411480"/>
          </a:xfrm>
          <a:prstGeom prst="rect">
            <a:avLst/>
          </a:prstGeom>
          <a:noFill/>
          <a:ln/>
        </p:spPr>
        <p:txBody>
          <a:bodyPr wrap="square" lIns="0" tIns="0" rIns="0" bIns="0" rtlCol="0" anchor="ctr"/>
          <a:lstStyle/>
          <a:p>
            <a:pPr marL="0" indent="0">
              <a:buNone/>
            </a:pPr>
            <a:r>
              <a:rPr lang="en-US" sz="1250" b="1" dirty="0">
                <a:solidFill>
                  <a:srgbClr val="1B2A3A"/>
                </a:solidFill>
                <a:latin typeface="Calibri" pitchFamily="34" charset="0"/>
                <a:ea typeface="Calibri" pitchFamily="34" charset="-122"/>
                <a:cs typeface="Calibri" pitchFamily="34" charset="-120"/>
              </a:rPr>
              <a:t>Subject adaptation: strongest lead</a:t>
            </a:r>
            <a:endParaRPr lang="en-US" sz="1250" dirty="0"/>
          </a:p>
        </p:txBody>
      </p:sp>
      <p:sp>
        <p:nvSpPr>
          <p:cNvPr id="23" name="Shape 16"/>
          <p:cNvSpPr/>
          <p:nvPr/>
        </p:nvSpPr>
        <p:spPr>
          <a:xfrm>
            <a:off x="7223760" y="5212080"/>
            <a:ext cx="365760" cy="365760"/>
          </a:xfrm>
          <a:prstGeom prst="ellipse">
            <a:avLst/>
          </a:prstGeom>
          <a:solidFill>
            <a:srgbClr val="12294D"/>
          </a:solidFill>
          <a:ln/>
        </p:spPr>
      </p:sp>
      <p:pic>
        <p:nvPicPr>
          <p:cNvPr id="24" name="Image 5" descr="icons/check_FFFFFF.png"/>
          <p:cNvPicPr>
            <a:picLocks noChangeAspect="1"/>
          </p:cNvPicPr>
          <p:nvPr/>
        </p:nvPicPr>
        <p:blipFill>
          <a:blip r:embed="rId3"/>
          <a:stretch>
            <a:fillRect/>
          </a:stretch>
        </p:blipFill>
        <p:spPr>
          <a:xfrm>
            <a:off x="7318858" y="5307178"/>
            <a:ext cx="175565" cy="175565"/>
          </a:xfrm>
          <a:prstGeom prst="rect">
            <a:avLst/>
          </a:prstGeom>
        </p:spPr>
      </p:pic>
      <p:sp>
        <p:nvSpPr>
          <p:cNvPr id="25" name="Text 17"/>
          <p:cNvSpPr/>
          <p:nvPr/>
        </p:nvSpPr>
        <p:spPr>
          <a:xfrm>
            <a:off x="7726680" y="5193792"/>
            <a:ext cx="3611880" cy="411480"/>
          </a:xfrm>
          <a:prstGeom prst="rect">
            <a:avLst/>
          </a:prstGeom>
          <a:noFill/>
          <a:ln/>
        </p:spPr>
        <p:txBody>
          <a:bodyPr wrap="square" lIns="0" tIns="0" rIns="0" bIns="0" rtlCol="0" anchor="ctr"/>
          <a:lstStyle/>
          <a:p>
            <a:pPr marL="0" indent="0">
              <a:buNone/>
            </a:pPr>
            <a:r>
              <a:rPr lang="en-US" sz="1250" dirty="0">
                <a:solidFill>
                  <a:srgbClr val="1B2A3A"/>
                </a:solidFill>
                <a:latin typeface="Calibri" pitchFamily="34" charset="0"/>
                <a:ea typeface="Calibri" pitchFamily="34" charset="-122"/>
                <a:cs typeface="Calibri" pitchFamily="34" charset="-120"/>
              </a:rPr>
              <a:t>Cross-session: isolates the real problem</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01168"/>
            <a:ext cx="9144000"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DATASET</a:t>
            </a:r>
            <a:endParaRPr lang="en-US" sz="1200" dirty="0"/>
          </a:p>
        </p:txBody>
      </p:sp>
      <p:sp>
        <p:nvSpPr>
          <p:cNvPr id="3" name="Text 1"/>
          <p:cNvSpPr/>
          <p:nvPr/>
        </p:nvSpPr>
        <p:spPr>
          <a:xfrm>
            <a:off x="548640" y="411480"/>
            <a:ext cx="11064240" cy="822960"/>
          </a:xfrm>
          <a:prstGeom prst="rect">
            <a:avLst/>
          </a:prstGeom>
          <a:noFill/>
          <a:ln/>
        </p:spPr>
        <p:txBody>
          <a:bodyPr wrap="square" lIns="0" tIns="0" rIns="0" bIns="0" rtlCol="0" anchor="ctr"/>
          <a:lstStyle/>
          <a:p>
            <a:pPr marL="0" indent="0" algn="l">
              <a:buNone/>
            </a:pPr>
            <a:r>
              <a:rPr lang="en-US" sz="3000" b="1" dirty="0">
                <a:solidFill>
                  <a:srgbClr val="12294D"/>
                </a:solidFill>
                <a:latin typeface="Cambria" pitchFamily="34" charset="0"/>
                <a:ea typeface="Cambria" pitchFamily="34" charset="-122"/>
                <a:cs typeface="Cambria" pitchFamily="34" charset="-120"/>
              </a:rPr>
              <a:t>BCI Competition IV — Dataset 2a</a:t>
            </a:r>
            <a:endParaRPr lang="en-US" sz="3000" dirty="0"/>
          </a:p>
        </p:txBody>
      </p:sp>
      <p:sp>
        <p:nvSpPr>
          <p:cNvPr id="4" name="Text 2"/>
          <p:cNvSpPr/>
          <p:nvPr/>
        </p:nvSpPr>
        <p:spPr>
          <a:xfrm>
            <a:off x="11365992" y="6400800"/>
            <a:ext cx="548640" cy="274320"/>
          </a:xfrm>
          <a:prstGeom prst="rect">
            <a:avLst/>
          </a:prstGeom>
          <a:noFill/>
          <a:ln/>
        </p:spPr>
        <p:txBody>
          <a:bodyPr wrap="square" lIns="0" tIns="0" rIns="0" bIns="0" rtlCol="0" anchor="ctr"/>
          <a:lstStyle/>
          <a:p>
            <a:pPr marL="0" indent="0" algn="r">
              <a:buNone/>
            </a:pPr>
            <a:r>
              <a:rPr lang="en-US" sz="1000" dirty="0">
                <a:solidFill>
                  <a:srgbClr val="A9B4BE"/>
                </a:solidFill>
                <a:latin typeface="Calibri" pitchFamily="34" charset="0"/>
                <a:ea typeface="Calibri" pitchFamily="34" charset="-122"/>
                <a:cs typeface="Calibri" pitchFamily="34" charset="-120"/>
              </a:rPr>
              <a:t>03</a:t>
            </a:r>
            <a:endParaRPr lang="en-US" sz="1000" dirty="0"/>
          </a:p>
        </p:txBody>
      </p:sp>
      <p:sp>
        <p:nvSpPr>
          <p:cNvPr id="5" name="Shape 3"/>
          <p:cNvSpPr/>
          <p:nvPr/>
        </p:nvSpPr>
        <p:spPr>
          <a:xfrm>
            <a:off x="548640" y="1600200"/>
            <a:ext cx="2514600" cy="1371600"/>
          </a:xfrm>
          <a:prstGeom prst="roundRect">
            <a:avLst>
              <a:gd name="adj" fmla="val 6667"/>
            </a:avLst>
          </a:prstGeom>
          <a:solidFill>
            <a:srgbClr val="F2F5F7"/>
          </a:solidFill>
          <a:ln/>
        </p:spPr>
      </p:sp>
      <p:sp>
        <p:nvSpPr>
          <p:cNvPr id="6" name="Shape 4"/>
          <p:cNvSpPr/>
          <p:nvPr/>
        </p:nvSpPr>
        <p:spPr>
          <a:xfrm>
            <a:off x="777240" y="1828800"/>
            <a:ext cx="457200" cy="457200"/>
          </a:xfrm>
          <a:prstGeom prst="ellipse">
            <a:avLst/>
          </a:prstGeom>
          <a:solidFill>
            <a:srgbClr val="12294D"/>
          </a:solidFill>
          <a:ln/>
        </p:spPr>
      </p:sp>
      <p:pic>
        <p:nvPicPr>
          <p:cNvPr id="7" name="Image 0" descr="icons/users_FFFFFF.png"/>
          <p:cNvPicPr>
            <a:picLocks noChangeAspect="1"/>
          </p:cNvPicPr>
          <p:nvPr/>
        </p:nvPicPr>
        <p:blipFill>
          <a:blip r:embed="rId3"/>
          <a:stretch>
            <a:fillRect/>
          </a:stretch>
        </p:blipFill>
        <p:spPr>
          <a:xfrm>
            <a:off x="896112" y="1947672"/>
            <a:ext cx="219456" cy="219456"/>
          </a:xfrm>
          <a:prstGeom prst="rect">
            <a:avLst/>
          </a:prstGeom>
        </p:spPr>
      </p:pic>
      <p:sp>
        <p:nvSpPr>
          <p:cNvPr id="8" name="Text 5"/>
          <p:cNvSpPr/>
          <p:nvPr/>
        </p:nvSpPr>
        <p:spPr>
          <a:xfrm>
            <a:off x="1371600" y="1764792"/>
            <a:ext cx="1554480" cy="457200"/>
          </a:xfrm>
          <a:prstGeom prst="rect">
            <a:avLst/>
          </a:prstGeom>
          <a:noFill/>
          <a:ln/>
        </p:spPr>
        <p:txBody>
          <a:bodyPr wrap="square" lIns="0" tIns="0" rIns="0" bIns="0" rtlCol="0" anchor="ctr"/>
          <a:lstStyle/>
          <a:p>
            <a:pPr marL="0" indent="0">
              <a:buNone/>
            </a:pPr>
            <a:r>
              <a:rPr lang="en-US" sz="2200" b="1" dirty="0">
                <a:solidFill>
                  <a:srgbClr val="12294D"/>
                </a:solidFill>
                <a:latin typeface="Cambria" pitchFamily="34" charset="0"/>
                <a:ea typeface="Cambria" pitchFamily="34" charset="-122"/>
                <a:cs typeface="Cambria" pitchFamily="34" charset="-120"/>
              </a:rPr>
              <a:t>9</a:t>
            </a:r>
            <a:endParaRPr lang="en-US" sz="2200" dirty="0"/>
          </a:p>
        </p:txBody>
      </p:sp>
      <p:sp>
        <p:nvSpPr>
          <p:cNvPr id="9" name="Text 6"/>
          <p:cNvSpPr/>
          <p:nvPr/>
        </p:nvSpPr>
        <p:spPr>
          <a:xfrm>
            <a:off x="1371600" y="2221992"/>
            <a:ext cx="1554480" cy="365760"/>
          </a:xfrm>
          <a:prstGeom prst="rect">
            <a:avLst/>
          </a:prstGeom>
          <a:noFill/>
          <a:ln/>
        </p:spPr>
        <p:txBody>
          <a:bodyPr wrap="square" lIns="0" tIns="0" rIns="0" bIns="0" rtlCol="0" anchor="ctr"/>
          <a:lstStyle/>
          <a:p>
            <a:pPr marL="0" indent="0">
              <a:buNone/>
            </a:pPr>
            <a:r>
              <a:rPr lang="en-US" sz="1100" dirty="0">
                <a:solidFill>
                  <a:srgbClr val="5A6B7B"/>
                </a:solidFill>
                <a:latin typeface="Calibri" pitchFamily="34" charset="0"/>
                <a:ea typeface="Calibri" pitchFamily="34" charset="-122"/>
                <a:cs typeface="Calibri" pitchFamily="34" charset="-120"/>
              </a:rPr>
              <a:t>Subjects</a:t>
            </a:r>
            <a:endParaRPr lang="en-US" sz="1100" dirty="0"/>
          </a:p>
        </p:txBody>
      </p:sp>
      <p:sp>
        <p:nvSpPr>
          <p:cNvPr id="10" name="Shape 7"/>
          <p:cNvSpPr/>
          <p:nvPr/>
        </p:nvSpPr>
        <p:spPr>
          <a:xfrm>
            <a:off x="3337560" y="1600200"/>
            <a:ext cx="2514600" cy="1371600"/>
          </a:xfrm>
          <a:prstGeom prst="roundRect">
            <a:avLst>
              <a:gd name="adj" fmla="val 6667"/>
            </a:avLst>
          </a:prstGeom>
          <a:solidFill>
            <a:srgbClr val="F2F5F7"/>
          </a:solidFill>
          <a:ln/>
        </p:spPr>
      </p:sp>
      <p:sp>
        <p:nvSpPr>
          <p:cNvPr id="11" name="Shape 8"/>
          <p:cNvSpPr/>
          <p:nvPr/>
        </p:nvSpPr>
        <p:spPr>
          <a:xfrm>
            <a:off x="3566160" y="1828800"/>
            <a:ext cx="457200" cy="457200"/>
          </a:xfrm>
          <a:prstGeom prst="ellipse">
            <a:avLst/>
          </a:prstGeom>
          <a:solidFill>
            <a:srgbClr val="12294D"/>
          </a:solidFill>
          <a:ln/>
        </p:spPr>
      </p:sp>
      <p:pic>
        <p:nvPicPr>
          <p:cNvPr id="12" name="Image 1" descr="icons/wave_FFFFFF.png"/>
          <p:cNvPicPr>
            <a:picLocks noChangeAspect="1"/>
          </p:cNvPicPr>
          <p:nvPr/>
        </p:nvPicPr>
        <p:blipFill>
          <a:blip r:embed="rId4"/>
          <a:stretch>
            <a:fillRect/>
          </a:stretch>
        </p:blipFill>
        <p:spPr>
          <a:xfrm>
            <a:off x="3685032" y="1947672"/>
            <a:ext cx="219456" cy="219456"/>
          </a:xfrm>
          <a:prstGeom prst="rect">
            <a:avLst/>
          </a:prstGeom>
        </p:spPr>
      </p:pic>
      <p:sp>
        <p:nvSpPr>
          <p:cNvPr id="13" name="Text 9"/>
          <p:cNvSpPr/>
          <p:nvPr/>
        </p:nvSpPr>
        <p:spPr>
          <a:xfrm>
            <a:off x="4160520" y="1764792"/>
            <a:ext cx="1554480" cy="457200"/>
          </a:xfrm>
          <a:prstGeom prst="rect">
            <a:avLst/>
          </a:prstGeom>
          <a:noFill/>
          <a:ln/>
        </p:spPr>
        <p:txBody>
          <a:bodyPr wrap="square" lIns="0" tIns="0" rIns="0" bIns="0" rtlCol="0" anchor="ctr"/>
          <a:lstStyle/>
          <a:p>
            <a:pPr marL="0" indent="0">
              <a:buNone/>
            </a:pPr>
            <a:r>
              <a:rPr lang="en-US" sz="2200" b="1" dirty="0">
                <a:solidFill>
                  <a:srgbClr val="12294D"/>
                </a:solidFill>
                <a:latin typeface="Cambria" pitchFamily="34" charset="0"/>
                <a:ea typeface="Cambria" pitchFamily="34" charset="-122"/>
                <a:cs typeface="Cambria" pitchFamily="34" charset="-120"/>
              </a:rPr>
              <a:t>22</a:t>
            </a:r>
            <a:endParaRPr lang="en-US" sz="2200" dirty="0"/>
          </a:p>
        </p:txBody>
      </p:sp>
      <p:sp>
        <p:nvSpPr>
          <p:cNvPr id="14" name="Text 10"/>
          <p:cNvSpPr/>
          <p:nvPr/>
        </p:nvSpPr>
        <p:spPr>
          <a:xfrm>
            <a:off x="4160520" y="2221992"/>
            <a:ext cx="1554480" cy="365760"/>
          </a:xfrm>
          <a:prstGeom prst="rect">
            <a:avLst/>
          </a:prstGeom>
          <a:noFill/>
          <a:ln/>
        </p:spPr>
        <p:txBody>
          <a:bodyPr wrap="square" lIns="0" tIns="0" rIns="0" bIns="0" rtlCol="0" anchor="ctr"/>
          <a:lstStyle/>
          <a:p>
            <a:pPr marL="0" indent="0">
              <a:buNone/>
            </a:pPr>
            <a:r>
              <a:rPr lang="en-US" sz="1100" dirty="0">
                <a:solidFill>
                  <a:srgbClr val="5A6B7B"/>
                </a:solidFill>
                <a:latin typeface="Calibri" pitchFamily="34" charset="0"/>
                <a:ea typeface="Calibri" pitchFamily="34" charset="-122"/>
                <a:cs typeface="Calibri" pitchFamily="34" charset="-120"/>
              </a:rPr>
              <a:t>EEG Channels</a:t>
            </a:r>
            <a:endParaRPr lang="en-US" sz="1100" dirty="0"/>
          </a:p>
        </p:txBody>
      </p:sp>
      <p:sp>
        <p:nvSpPr>
          <p:cNvPr id="15" name="Shape 11"/>
          <p:cNvSpPr/>
          <p:nvPr/>
        </p:nvSpPr>
        <p:spPr>
          <a:xfrm>
            <a:off x="6126480" y="1600200"/>
            <a:ext cx="2514600" cy="1371600"/>
          </a:xfrm>
          <a:prstGeom prst="roundRect">
            <a:avLst>
              <a:gd name="adj" fmla="val 6667"/>
            </a:avLst>
          </a:prstGeom>
          <a:solidFill>
            <a:srgbClr val="F2F5F7"/>
          </a:solidFill>
          <a:ln/>
        </p:spPr>
      </p:sp>
      <p:sp>
        <p:nvSpPr>
          <p:cNvPr id="16" name="Shape 12"/>
          <p:cNvSpPr/>
          <p:nvPr/>
        </p:nvSpPr>
        <p:spPr>
          <a:xfrm>
            <a:off x="6355080" y="1828800"/>
            <a:ext cx="457200" cy="457200"/>
          </a:xfrm>
          <a:prstGeom prst="ellipse">
            <a:avLst/>
          </a:prstGeom>
          <a:solidFill>
            <a:srgbClr val="12294D"/>
          </a:solidFill>
          <a:ln/>
        </p:spPr>
      </p:sp>
      <p:pic>
        <p:nvPicPr>
          <p:cNvPr id="17" name="Image 2" descr="icons/chart_FFFFFF.png"/>
          <p:cNvPicPr>
            <a:picLocks noChangeAspect="1"/>
          </p:cNvPicPr>
          <p:nvPr/>
        </p:nvPicPr>
        <p:blipFill>
          <a:blip r:embed="rId5"/>
          <a:stretch>
            <a:fillRect/>
          </a:stretch>
        </p:blipFill>
        <p:spPr>
          <a:xfrm>
            <a:off x="6473952" y="1947672"/>
            <a:ext cx="219456" cy="219456"/>
          </a:xfrm>
          <a:prstGeom prst="rect">
            <a:avLst/>
          </a:prstGeom>
        </p:spPr>
      </p:pic>
      <p:sp>
        <p:nvSpPr>
          <p:cNvPr id="18" name="Text 13"/>
          <p:cNvSpPr/>
          <p:nvPr/>
        </p:nvSpPr>
        <p:spPr>
          <a:xfrm>
            <a:off x="6949440" y="1764792"/>
            <a:ext cx="1554480" cy="457200"/>
          </a:xfrm>
          <a:prstGeom prst="rect">
            <a:avLst/>
          </a:prstGeom>
          <a:noFill/>
          <a:ln/>
        </p:spPr>
        <p:txBody>
          <a:bodyPr wrap="square" lIns="0" tIns="0" rIns="0" bIns="0" rtlCol="0" anchor="ctr"/>
          <a:lstStyle/>
          <a:p>
            <a:pPr marL="0" indent="0">
              <a:buNone/>
            </a:pPr>
            <a:r>
              <a:rPr lang="en-US" sz="2200" b="1" dirty="0">
                <a:solidFill>
                  <a:srgbClr val="12294D"/>
                </a:solidFill>
                <a:latin typeface="Cambria" pitchFamily="34" charset="0"/>
                <a:ea typeface="Cambria" pitchFamily="34" charset="-122"/>
                <a:cs typeface="Cambria" pitchFamily="34" charset="-120"/>
              </a:rPr>
              <a:t>250 Hz</a:t>
            </a:r>
            <a:endParaRPr lang="en-US" sz="2200" dirty="0"/>
          </a:p>
        </p:txBody>
      </p:sp>
      <p:sp>
        <p:nvSpPr>
          <p:cNvPr id="19" name="Text 14"/>
          <p:cNvSpPr/>
          <p:nvPr/>
        </p:nvSpPr>
        <p:spPr>
          <a:xfrm>
            <a:off x="6949440" y="2221992"/>
            <a:ext cx="1554480" cy="365760"/>
          </a:xfrm>
          <a:prstGeom prst="rect">
            <a:avLst/>
          </a:prstGeom>
          <a:noFill/>
          <a:ln/>
        </p:spPr>
        <p:txBody>
          <a:bodyPr wrap="square" lIns="0" tIns="0" rIns="0" bIns="0" rtlCol="0" anchor="ctr"/>
          <a:lstStyle/>
          <a:p>
            <a:pPr marL="0" indent="0">
              <a:buNone/>
            </a:pPr>
            <a:r>
              <a:rPr lang="en-US" sz="1100" dirty="0">
                <a:solidFill>
                  <a:srgbClr val="5A6B7B"/>
                </a:solidFill>
                <a:latin typeface="Calibri" pitchFamily="34" charset="0"/>
                <a:ea typeface="Calibri" pitchFamily="34" charset="-122"/>
                <a:cs typeface="Calibri" pitchFamily="34" charset="-120"/>
              </a:rPr>
              <a:t>Sampling Rate</a:t>
            </a:r>
            <a:endParaRPr lang="en-US" sz="1100" dirty="0"/>
          </a:p>
        </p:txBody>
      </p:sp>
      <p:sp>
        <p:nvSpPr>
          <p:cNvPr id="20" name="Shape 15"/>
          <p:cNvSpPr/>
          <p:nvPr/>
        </p:nvSpPr>
        <p:spPr>
          <a:xfrm>
            <a:off x="8915400" y="1600200"/>
            <a:ext cx="2514600" cy="1371600"/>
          </a:xfrm>
          <a:prstGeom prst="roundRect">
            <a:avLst>
              <a:gd name="adj" fmla="val 6667"/>
            </a:avLst>
          </a:prstGeom>
          <a:solidFill>
            <a:srgbClr val="F2F5F7"/>
          </a:solidFill>
          <a:ln/>
        </p:spPr>
      </p:sp>
      <p:sp>
        <p:nvSpPr>
          <p:cNvPr id="21" name="Shape 16"/>
          <p:cNvSpPr/>
          <p:nvPr/>
        </p:nvSpPr>
        <p:spPr>
          <a:xfrm>
            <a:off x="9144000" y="1828800"/>
            <a:ext cx="457200" cy="457200"/>
          </a:xfrm>
          <a:prstGeom prst="ellipse">
            <a:avLst/>
          </a:prstGeom>
          <a:solidFill>
            <a:srgbClr val="12294D"/>
          </a:solidFill>
          <a:ln/>
        </p:spPr>
      </p:sp>
      <p:pic>
        <p:nvPicPr>
          <p:cNvPr id="22" name="Image 3" descr="icons/clipboard_FFFFFF.png"/>
          <p:cNvPicPr>
            <a:picLocks noChangeAspect="1"/>
          </p:cNvPicPr>
          <p:nvPr/>
        </p:nvPicPr>
        <p:blipFill>
          <a:blip r:embed="rId6"/>
          <a:stretch>
            <a:fillRect/>
          </a:stretch>
        </p:blipFill>
        <p:spPr>
          <a:xfrm>
            <a:off x="9262872" y="1947672"/>
            <a:ext cx="219456" cy="219456"/>
          </a:xfrm>
          <a:prstGeom prst="rect">
            <a:avLst/>
          </a:prstGeom>
        </p:spPr>
      </p:pic>
      <p:sp>
        <p:nvSpPr>
          <p:cNvPr id="23" name="Text 17"/>
          <p:cNvSpPr/>
          <p:nvPr/>
        </p:nvSpPr>
        <p:spPr>
          <a:xfrm>
            <a:off x="9738360" y="1764792"/>
            <a:ext cx="1554480" cy="457200"/>
          </a:xfrm>
          <a:prstGeom prst="rect">
            <a:avLst/>
          </a:prstGeom>
          <a:noFill/>
          <a:ln/>
        </p:spPr>
        <p:txBody>
          <a:bodyPr wrap="square" lIns="0" tIns="0" rIns="0" bIns="0" rtlCol="0" anchor="ctr"/>
          <a:lstStyle/>
          <a:p>
            <a:pPr marL="0" indent="0">
              <a:buNone/>
            </a:pPr>
            <a:r>
              <a:rPr lang="en-US" sz="2200" b="1" dirty="0">
                <a:solidFill>
                  <a:srgbClr val="12294D"/>
                </a:solidFill>
                <a:latin typeface="Cambria" pitchFamily="34" charset="0"/>
                <a:ea typeface="Cambria" pitchFamily="34" charset="-122"/>
                <a:cs typeface="Cambria" pitchFamily="34" charset="-120"/>
              </a:rPr>
              <a:t>288</a:t>
            </a:r>
            <a:endParaRPr lang="en-US" sz="2200" dirty="0"/>
          </a:p>
        </p:txBody>
      </p:sp>
      <p:sp>
        <p:nvSpPr>
          <p:cNvPr id="24" name="Text 18"/>
          <p:cNvSpPr/>
          <p:nvPr/>
        </p:nvSpPr>
        <p:spPr>
          <a:xfrm>
            <a:off x="9738360" y="2221992"/>
            <a:ext cx="1554480" cy="365760"/>
          </a:xfrm>
          <a:prstGeom prst="rect">
            <a:avLst/>
          </a:prstGeom>
          <a:noFill/>
          <a:ln/>
        </p:spPr>
        <p:txBody>
          <a:bodyPr wrap="square" lIns="0" tIns="0" rIns="0" bIns="0" rtlCol="0" anchor="ctr"/>
          <a:lstStyle/>
          <a:p>
            <a:pPr marL="0" indent="0">
              <a:buNone/>
            </a:pPr>
            <a:r>
              <a:rPr lang="en-US" sz="1100" dirty="0">
                <a:solidFill>
                  <a:srgbClr val="5A6B7B"/>
                </a:solidFill>
                <a:latin typeface="Calibri" pitchFamily="34" charset="0"/>
                <a:ea typeface="Calibri" pitchFamily="34" charset="-122"/>
                <a:cs typeface="Calibri" pitchFamily="34" charset="-120"/>
              </a:rPr>
              <a:t>Trials / Subject</a:t>
            </a:r>
            <a:endParaRPr lang="en-US" sz="1100" dirty="0"/>
          </a:p>
        </p:txBody>
      </p:sp>
      <p:sp>
        <p:nvSpPr>
          <p:cNvPr id="25" name="Text 19"/>
          <p:cNvSpPr/>
          <p:nvPr/>
        </p:nvSpPr>
        <p:spPr>
          <a:xfrm>
            <a:off x="548640" y="3246120"/>
            <a:ext cx="7315200" cy="274320"/>
          </a:xfrm>
          <a:prstGeom prst="rect">
            <a:avLst/>
          </a:prstGeom>
          <a:noFill/>
          <a:ln/>
        </p:spPr>
        <p:txBody>
          <a:bodyPr wrap="square" lIns="0" tIns="0" rIns="0" bIns="0" rtlCol="0" anchor="ctr"/>
          <a:lstStyle/>
          <a:p>
            <a:pPr marL="0" indent="0">
              <a:buNone/>
            </a:pPr>
            <a:r>
              <a:rPr lang="en-US" sz="1200" b="1" kern="0" spc="150" dirty="0">
                <a:solidFill>
                  <a:srgbClr val="1C7293"/>
                </a:solidFill>
                <a:latin typeface="Calibri" pitchFamily="34" charset="0"/>
                <a:ea typeface="Calibri" pitchFamily="34" charset="-122"/>
                <a:cs typeface="Calibri" pitchFamily="34" charset="-120"/>
              </a:rPr>
              <a:t>FOUR MOTOR IMAGERY CLASSES</a:t>
            </a:r>
            <a:endParaRPr lang="en-US" sz="1200" dirty="0"/>
          </a:p>
        </p:txBody>
      </p:sp>
      <p:sp>
        <p:nvSpPr>
          <p:cNvPr id="26" name="Shape 20"/>
          <p:cNvSpPr/>
          <p:nvPr/>
        </p:nvSpPr>
        <p:spPr>
          <a:xfrm>
            <a:off x="548640" y="3611880"/>
            <a:ext cx="2514600" cy="914400"/>
          </a:xfrm>
          <a:prstGeom prst="roundRect">
            <a:avLst>
              <a:gd name="adj" fmla="val 10000"/>
            </a:avLst>
          </a:prstGeom>
          <a:solidFill>
            <a:srgbClr val="FFFFFF"/>
          </a:solidFill>
          <a:ln w="12700">
            <a:solidFill>
              <a:srgbClr val="DCE3E8"/>
            </a:solidFill>
            <a:prstDash val="solid"/>
          </a:ln>
        </p:spPr>
      </p:sp>
      <p:sp>
        <p:nvSpPr>
          <p:cNvPr id="27" name="Shape 21"/>
          <p:cNvSpPr/>
          <p:nvPr/>
        </p:nvSpPr>
        <p:spPr>
          <a:xfrm>
            <a:off x="804672" y="3858768"/>
            <a:ext cx="420624" cy="420624"/>
          </a:xfrm>
          <a:prstGeom prst="ellipse">
            <a:avLst/>
          </a:prstGeom>
          <a:solidFill>
            <a:srgbClr val="2EC4B6"/>
          </a:solidFill>
          <a:ln/>
        </p:spPr>
      </p:sp>
      <p:sp>
        <p:nvSpPr>
          <p:cNvPr id="28" name="Text 22"/>
          <p:cNvSpPr/>
          <p:nvPr/>
        </p:nvSpPr>
        <p:spPr>
          <a:xfrm>
            <a:off x="804672" y="3858768"/>
            <a:ext cx="420624" cy="420624"/>
          </a:xfrm>
          <a:prstGeom prst="rect">
            <a:avLst/>
          </a:prstGeom>
          <a:noFill/>
          <a:ln/>
        </p:spPr>
        <p:txBody>
          <a:bodyPr wrap="square" lIns="0" tIns="0" rIns="0" bIns="0" rtlCol="0" anchor="ctr"/>
          <a:lstStyle/>
          <a:p>
            <a:pPr marL="0" indent="0" algn="ctr">
              <a:buNone/>
            </a:pPr>
            <a:r>
              <a:rPr lang="en-US" sz="1500" b="1" dirty="0">
                <a:solidFill>
                  <a:srgbClr val="12294D"/>
                </a:solidFill>
                <a:latin typeface="Cambria" pitchFamily="34" charset="0"/>
                <a:ea typeface="Cambria" pitchFamily="34" charset="-122"/>
                <a:cs typeface="Cambria" pitchFamily="34" charset="-120"/>
              </a:rPr>
              <a:t>1</a:t>
            </a:r>
            <a:endParaRPr lang="en-US" sz="1500" dirty="0"/>
          </a:p>
        </p:txBody>
      </p:sp>
      <p:sp>
        <p:nvSpPr>
          <p:cNvPr id="29" name="Text 23"/>
          <p:cNvSpPr/>
          <p:nvPr/>
        </p:nvSpPr>
        <p:spPr>
          <a:xfrm>
            <a:off x="1353312" y="3886200"/>
            <a:ext cx="1600200" cy="384048"/>
          </a:xfrm>
          <a:prstGeom prst="rect">
            <a:avLst/>
          </a:prstGeom>
          <a:noFill/>
          <a:ln/>
        </p:spPr>
        <p:txBody>
          <a:bodyPr wrap="square" lIns="0" tIns="0" rIns="0" bIns="0" rtlCol="0" anchor="ctr"/>
          <a:lstStyle/>
          <a:p>
            <a:pPr marL="0" indent="0">
              <a:buNone/>
            </a:pPr>
            <a:r>
              <a:rPr lang="en-US" sz="1300" b="1" dirty="0">
                <a:solidFill>
                  <a:srgbClr val="1B2A3A"/>
                </a:solidFill>
                <a:latin typeface="Calibri" pitchFamily="34" charset="0"/>
                <a:ea typeface="Calibri" pitchFamily="34" charset="-122"/>
                <a:cs typeface="Calibri" pitchFamily="34" charset="-120"/>
              </a:rPr>
              <a:t>Left Hand</a:t>
            </a:r>
            <a:endParaRPr lang="en-US" sz="1300" dirty="0"/>
          </a:p>
        </p:txBody>
      </p:sp>
      <p:sp>
        <p:nvSpPr>
          <p:cNvPr id="30" name="Shape 24"/>
          <p:cNvSpPr/>
          <p:nvPr/>
        </p:nvSpPr>
        <p:spPr>
          <a:xfrm>
            <a:off x="3337560" y="3611880"/>
            <a:ext cx="2514600" cy="914400"/>
          </a:xfrm>
          <a:prstGeom prst="roundRect">
            <a:avLst>
              <a:gd name="adj" fmla="val 10000"/>
            </a:avLst>
          </a:prstGeom>
          <a:solidFill>
            <a:srgbClr val="FFFFFF"/>
          </a:solidFill>
          <a:ln w="12700">
            <a:solidFill>
              <a:srgbClr val="DCE3E8"/>
            </a:solidFill>
            <a:prstDash val="solid"/>
          </a:ln>
        </p:spPr>
      </p:sp>
      <p:sp>
        <p:nvSpPr>
          <p:cNvPr id="31" name="Shape 25"/>
          <p:cNvSpPr/>
          <p:nvPr/>
        </p:nvSpPr>
        <p:spPr>
          <a:xfrm>
            <a:off x="3593592" y="3858768"/>
            <a:ext cx="420624" cy="420624"/>
          </a:xfrm>
          <a:prstGeom prst="ellipse">
            <a:avLst/>
          </a:prstGeom>
          <a:solidFill>
            <a:srgbClr val="2EC4B6"/>
          </a:solidFill>
          <a:ln/>
        </p:spPr>
      </p:sp>
      <p:sp>
        <p:nvSpPr>
          <p:cNvPr id="32" name="Text 26"/>
          <p:cNvSpPr/>
          <p:nvPr/>
        </p:nvSpPr>
        <p:spPr>
          <a:xfrm>
            <a:off x="3593592" y="3858768"/>
            <a:ext cx="420624" cy="420624"/>
          </a:xfrm>
          <a:prstGeom prst="rect">
            <a:avLst/>
          </a:prstGeom>
          <a:noFill/>
          <a:ln/>
        </p:spPr>
        <p:txBody>
          <a:bodyPr wrap="square" lIns="0" tIns="0" rIns="0" bIns="0" rtlCol="0" anchor="ctr"/>
          <a:lstStyle/>
          <a:p>
            <a:pPr marL="0" indent="0" algn="ctr">
              <a:buNone/>
            </a:pPr>
            <a:r>
              <a:rPr lang="en-US" sz="1500" b="1" dirty="0">
                <a:solidFill>
                  <a:srgbClr val="12294D"/>
                </a:solidFill>
                <a:latin typeface="Cambria" pitchFamily="34" charset="0"/>
                <a:ea typeface="Cambria" pitchFamily="34" charset="-122"/>
                <a:cs typeface="Cambria" pitchFamily="34" charset="-120"/>
              </a:rPr>
              <a:t>2</a:t>
            </a:r>
            <a:endParaRPr lang="en-US" sz="1500" dirty="0"/>
          </a:p>
        </p:txBody>
      </p:sp>
      <p:sp>
        <p:nvSpPr>
          <p:cNvPr id="33" name="Text 27"/>
          <p:cNvSpPr/>
          <p:nvPr/>
        </p:nvSpPr>
        <p:spPr>
          <a:xfrm>
            <a:off x="4142232" y="3886200"/>
            <a:ext cx="1600200" cy="384048"/>
          </a:xfrm>
          <a:prstGeom prst="rect">
            <a:avLst/>
          </a:prstGeom>
          <a:noFill/>
          <a:ln/>
        </p:spPr>
        <p:txBody>
          <a:bodyPr wrap="square" lIns="0" tIns="0" rIns="0" bIns="0" rtlCol="0" anchor="ctr"/>
          <a:lstStyle/>
          <a:p>
            <a:pPr marL="0" indent="0">
              <a:buNone/>
            </a:pPr>
            <a:r>
              <a:rPr lang="en-US" sz="1300" b="1" dirty="0">
                <a:solidFill>
                  <a:srgbClr val="1B2A3A"/>
                </a:solidFill>
                <a:latin typeface="Calibri" pitchFamily="34" charset="0"/>
                <a:ea typeface="Calibri" pitchFamily="34" charset="-122"/>
                <a:cs typeface="Calibri" pitchFamily="34" charset="-120"/>
              </a:rPr>
              <a:t>Right Hand</a:t>
            </a:r>
            <a:endParaRPr lang="en-US" sz="1300" dirty="0"/>
          </a:p>
        </p:txBody>
      </p:sp>
      <p:sp>
        <p:nvSpPr>
          <p:cNvPr id="34" name="Shape 28"/>
          <p:cNvSpPr/>
          <p:nvPr/>
        </p:nvSpPr>
        <p:spPr>
          <a:xfrm>
            <a:off x="6126480" y="3611880"/>
            <a:ext cx="2514600" cy="914400"/>
          </a:xfrm>
          <a:prstGeom prst="roundRect">
            <a:avLst>
              <a:gd name="adj" fmla="val 10000"/>
            </a:avLst>
          </a:prstGeom>
          <a:solidFill>
            <a:srgbClr val="FFFFFF"/>
          </a:solidFill>
          <a:ln w="12700">
            <a:solidFill>
              <a:srgbClr val="DCE3E8"/>
            </a:solidFill>
            <a:prstDash val="solid"/>
          </a:ln>
        </p:spPr>
      </p:sp>
      <p:sp>
        <p:nvSpPr>
          <p:cNvPr id="35" name="Shape 29"/>
          <p:cNvSpPr/>
          <p:nvPr/>
        </p:nvSpPr>
        <p:spPr>
          <a:xfrm>
            <a:off x="6382512" y="3858768"/>
            <a:ext cx="420624" cy="420624"/>
          </a:xfrm>
          <a:prstGeom prst="ellipse">
            <a:avLst/>
          </a:prstGeom>
          <a:solidFill>
            <a:srgbClr val="2EC4B6"/>
          </a:solidFill>
          <a:ln/>
        </p:spPr>
      </p:sp>
      <p:sp>
        <p:nvSpPr>
          <p:cNvPr id="36" name="Text 30"/>
          <p:cNvSpPr/>
          <p:nvPr/>
        </p:nvSpPr>
        <p:spPr>
          <a:xfrm>
            <a:off x="6382512" y="3858768"/>
            <a:ext cx="420624" cy="420624"/>
          </a:xfrm>
          <a:prstGeom prst="rect">
            <a:avLst/>
          </a:prstGeom>
          <a:noFill/>
          <a:ln/>
        </p:spPr>
        <p:txBody>
          <a:bodyPr wrap="square" lIns="0" tIns="0" rIns="0" bIns="0" rtlCol="0" anchor="ctr"/>
          <a:lstStyle/>
          <a:p>
            <a:pPr marL="0" indent="0" algn="ctr">
              <a:buNone/>
            </a:pPr>
            <a:r>
              <a:rPr lang="en-US" sz="1500" b="1" dirty="0">
                <a:solidFill>
                  <a:srgbClr val="12294D"/>
                </a:solidFill>
                <a:latin typeface="Cambria" pitchFamily="34" charset="0"/>
                <a:ea typeface="Cambria" pitchFamily="34" charset="-122"/>
                <a:cs typeface="Cambria" pitchFamily="34" charset="-120"/>
              </a:rPr>
              <a:t>3</a:t>
            </a:r>
            <a:endParaRPr lang="en-US" sz="1500" dirty="0"/>
          </a:p>
        </p:txBody>
      </p:sp>
      <p:sp>
        <p:nvSpPr>
          <p:cNvPr id="37" name="Text 31"/>
          <p:cNvSpPr/>
          <p:nvPr/>
        </p:nvSpPr>
        <p:spPr>
          <a:xfrm>
            <a:off x="6931152" y="3886200"/>
            <a:ext cx="1600200" cy="384048"/>
          </a:xfrm>
          <a:prstGeom prst="rect">
            <a:avLst/>
          </a:prstGeom>
          <a:noFill/>
          <a:ln/>
        </p:spPr>
        <p:txBody>
          <a:bodyPr wrap="square" lIns="0" tIns="0" rIns="0" bIns="0" rtlCol="0" anchor="ctr"/>
          <a:lstStyle/>
          <a:p>
            <a:pPr marL="0" indent="0">
              <a:buNone/>
            </a:pPr>
            <a:r>
              <a:rPr lang="en-US" sz="1300" b="1" dirty="0">
                <a:solidFill>
                  <a:srgbClr val="1B2A3A"/>
                </a:solidFill>
                <a:latin typeface="Calibri" pitchFamily="34" charset="0"/>
                <a:ea typeface="Calibri" pitchFamily="34" charset="-122"/>
                <a:cs typeface="Calibri" pitchFamily="34" charset="-120"/>
              </a:rPr>
              <a:t>Foot</a:t>
            </a:r>
            <a:endParaRPr lang="en-US" sz="1300" dirty="0"/>
          </a:p>
        </p:txBody>
      </p:sp>
      <p:sp>
        <p:nvSpPr>
          <p:cNvPr id="38" name="Shape 32"/>
          <p:cNvSpPr/>
          <p:nvPr/>
        </p:nvSpPr>
        <p:spPr>
          <a:xfrm>
            <a:off x="8915400" y="3611880"/>
            <a:ext cx="2514600" cy="914400"/>
          </a:xfrm>
          <a:prstGeom prst="roundRect">
            <a:avLst>
              <a:gd name="adj" fmla="val 10000"/>
            </a:avLst>
          </a:prstGeom>
          <a:solidFill>
            <a:srgbClr val="FFFFFF"/>
          </a:solidFill>
          <a:ln w="12700">
            <a:solidFill>
              <a:srgbClr val="DCE3E8"/>
            </a:solidFill>
            <a:prstDash val="solid"/>
          </a:ln>
        </p:spPr>
      </p:sp>
      <p:sp>
        <p:nvSpPr>
          <p:cNvPr id="39" name="Shape 33"/>
          <p:cNvSpPr/>
          <p:nvPr/>
        </p:nvSpPr>
        <p:spPr>
          <a:xfrm>
            <a:off x="9171432" y="3858768"/>
            <a:ext cx="420624" cy="420624"/>
          </a:xfrm>
          <a:prstGeom prst="ellipse">
            <a:avLst/>
          </a:prstGeom>
          <a:solidFill>
            <a:srgbClr val="2EC4B6"/>
          </a:solidFill>
          <a:ln/>
        </p:spPr>
      </p:sp>
      <p:sp>
        <p:nvSpPr>
          <p:cNvPr id="40" name="Text 34"/>
          <p:cNvSpPr/>
          <p:nvPr/>
        </p:nvSpPr>
        <p:spPr>
          <a:xfrm>
            <a:off x="9171432" y="3858768"/>
            <a:ext cx="420624" cy="420624"/>
          </a:xfrm>
          <a:prstGeom prst="rect">
            <a:avLst/>
          </a:prstGeom>
          <a:noFill/>
          <a:ln/>
        </p:spPr>
        <p:txBody>
          <a:bodyPr wrap="square" lIns="0" tIns="0" rIns="0" bIns="0" rtlCol="0" anchor="ctr"/>
          <a:lstStyle/>
          <a:p>
            <a:pPr marL="0" indent="0" algn="ctr">
              <a:buNone/>
            </a:pPr>
            <a:r>
              <a:rPr lang="en-US" sz="1500" b="1" dirty="0">
                <a:solidFill>
                  <a:srgbClr val="12294D"/>
                </a:solidFill>
                <a:latin typeface="Cambria" pitchFamily="34" charset="0"/>
                <a:ea typeface="Cambria" pitchFamily="34" charset="-122"/>
                <a:cs typeface="Cambria" pitchFamily="34" charset="-120"/>
              </a:rPr>
              <a:t>4</a:t>
            </a:r>
            <a:endParaRPr lang="en-US" sz="1500" dirty="0"/>
          </a:p>
        </p:txBody>
      </p:sp>
      <p:sp>
        <p:nvSpPr>
          <p:cNvPr id="41" name="Text 35"/>
          <p:cNvSpPr/>
          <p:nvPr/>
        </p:nvSpPr>
        <p:spPr>
          <a:xfrm>
            <a:off x="9720072" y="3886200"/>
            <a:ext cx="1600200" cy="384048"/>
          </a:xfrm>
          <a:prstGeom prst="rect">
            <a:avLst/>
          </a:prstGeom>
          <a:noFill/>
          <a:ln/>
        </p:spPr>
        <p:txBody>
          <a:bodyPr wrap="square" lIns="0" tIns="0" rIns="0" bIns="0" rtlCol="0" anchor="ctr"/>
          <a:lstStyle/>
          <a:p>
            <a:pPr marL="0" indent="0">
              <a:buNone/>
            </a:pPr>
            <a:r>
              <a:rPr lang="en-US" sz="1300" b="1" dirty="0">
                <a:solidFill>
                  <a:srgbClr val="1B2A3A"/>
                </a:solidFill>
                <a:latin typeface="Calibri" pitchFamily="34" charset="0"/>
                <a:ea typeface="Calibri" pitchFamily="34" charset="-122"/>
                <a:cs typeface="Calibri" pitchFamily="34" charset="-120"/>
              </a:rPr>
              <a:t>Tongue</a:t>
            </a:r>
            <a:endParaRPr lang="en-US" sz="1300" dirty="0"/>
          </a:p>
        </p:txBody>
      </p:sp>
      <p:sp>
        <p:nvSpPr>
          <p:cNvPr id="42" name="Shape 36"/>
          <p:cNvSpPr/>
          <p:nvPr/>
        </p:nvSpPr>
        <p:spPr>
          <a:xfrm>
            <a:off x="548640" y="4800600"/>
            <a:ext cx="11091672" cy="777240"/>
          </a:xfrm>
          <a:prstGeom prst="roundRect">
            <a:avLst>
              <a:gd name="adj" fmla="val 9412"/>
            </a:avLst>
          </a:prstGeom>
          <a:solidFill>
            <a:srgbClr val="E8F7F5"/>
          </a:solidFill>
          <a:ln/>
        </p:spPr>
      </p:sp>
      <p:sp>
        <p:nvSpPr>
          <p:cNvPr id="43" name="Text 37"/>
          <p:cNvSpPr/>
          <p:nvPr/>
        </p:nvSpPr>
        <p:spPr>
          <a:xfrm>
            <a:off x="777240" y="4873752"/>
            <a:ext cx="10634472" cy="630936"/>
          </a:xfrm>
          <a:prstGeom prst="rect">
            <a:avLst/>
          </a:prstGeom>
          <a:noFill/>
          <a:ln/>
        </p:spPr>
        <p:txBody>
          <a:bodyPr wrap="square" lIns="0" tIns="0" rIns="0" bIns="0" rtlCol="0" anchor="ctr"/>
          <a:lstStyle/>
          <a:p>
            <a:pPr marL="0" indent="0">
              <a:buNone/>
            </a:pPr>
            <a:r>
              <a:rPr lang="en-US" sz="1150" b="1" dirty="0">
                <a:solidFill>
                  <a:srgbClr val="1C8577"/>
                </a:solidFill>
                <a:latin typeface="Calibri" pitchFamily="34" charset="0"/>
                <a:ea typeface="Calibri" pitchFamily="34" charset="-122"/>
                <a:cs typeface="Calibri" pitchFamily="34" charset="-120"/>
              </a:rPr>
              <a:t>✓ </a:t>
            </a:r>
            <a:r>
              <a:rPr lang="en-US" sz="1150" dirty="0">
                <a:solidFill>
                  <a:srgbClr val="1F2937"/>
                </a:solidFill>
                <a:latin typeface="Calibri" pitchFamily="34" charset="0"/>
                <a:ea typeface="Calibri" pitchFamily="34" charset="-122"/>
                <a:cs typeface="Calibri" pitchFamily="34" charset="-120"/>
              </a:rPr>
              <a:t>Pooled across all 9 subjects this now totals 2,592 perfectly balanced trials (648 per class) — see Slide 6 for why that number matters.</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01168"/>
            <a:ext cx="9144000"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METHODOLOGY</a:t>
            </a:r>
            <a:endParaRPr lang="en-US" sz="1200" dirty="0"/>
          </a:p>
        </p:txBody>
      </p:sp>
      <p:sp>
        <p:nvSpPr>
          <p:cNvPr id="3" name="Text 1"/>
          <p:cNvSpPr/>
          <p:nvPr/>
        </p:nvSpPr>
        <p:spPr>
          <a:xfrm>
            <a:off x="548640" y="411480"/>
            <a:ext cx="11064240" cy="822960"/>
          </a:xfrm>
          <a:prstGeom prst="rect">
            <a:avLst/>
          </a:prstGeom>
          <a:noFill/>
          <a:ln/>
        </p:spPr>
        <p:txBody>
          <a:bodyPr wrap="square" lIns="0" tIns="0" rIns="0" bIns="0" rtlCol="0" anchor="ctr"/>
          <a:lstStyle/>
          <a:p>
            <a:pPr marL="0" indent="0" algn="l">
              <a:buNone/>
            </a:pPr>
            <a:r>
              <a:rPr lang="en-US" sz="3000" b="1" dirty="0">
                <a:solidFill>
                  <a:srgbClr val="12294D"/>
                </a:solidFill>
                <a:latin typeface="Cambria" pitchFamily="34" charset="0"/>
                <a:ea typeface="Cambria" pitchFamily="34" charset="-122"/>
                <a:cs typeface="Cambria" pitchFamily="34" charset="-120"/>
              </a:rPr>
              <a:t>End-to-End Classification Pipeline</a:t>
            </a:r>
            <a:endParaRPr lang="en-US" sz="3000" dirty="0"/>
          </a:p>
        </p:txBody>
      </p:sp>
      <p:sp>
        <p:nvSpPr>
          <p:cNvPr id="4" name="Text 2"/>
          <p:cNvSpPr/>
          <p:nvPr/>
        </p:nvSpPr>
        <p:spPr>
          <a:xfrm>
            <a:off x="11365992" y="6400800"/>
            <a:ext cx="548640" cy="274320"/>
          </a:xfrm>
          <a:prstGeom prst="rect">
            <a:avLst/>
          </a:prstGeom>
          <a:noFill/>
          <a:ln/>
        </p:spPr>
        <p:txBody>
          <a:bodyPr wrap="square" lIns="0" tIns="0" rIns="0" bIns="0" rtlCol="0" anchor="ctr"/>
          <a:lstStyle/>
          <a:p>
            <a:pPr marL="0" indent="0" algn="r">
              <a:buNone/>
            </a:pPr>
            <a:r>
              <a:rPr lang="en-US" sz="1000" dirty="0">
                <a:solidFill>
                  <a:srgbClr val="A9B4BE"/>
                </a:solidFill>
                <a:latin typeface="Calibri" pitchFamily="34" charset="0"/>
                <a:ea typeface="Calibri" pitchFamily="34" charset="-122"/>
                <a:cs typeface="Calibri" pitchFamily="34" charset="-120"/>
              </a:rPr>
              <a:t>04</a:t>
            </a:r>
            <a:endParaRPr lang="en-US" sz="1000" dirty="0"/>
          </a:p>
        </p:txBody>
      </p:sp>
      <p:sp>
        <p:nvSpPr>
          <p:cNvPr id="5" name="Shape 3"/>
          <p:cNvSpPr/>
          <p:nvPr/>
        </p:nvSpPr>
        <p:spPr>
          <a:xfrm>
            <a:off x="662940" y="1737360"/>
            <a:ext cx="1627632" cy="1783080"/>
          </a:xfrm>
          <a:prstGeom prst="roundRect">
            <a:avLst>
              <a:gd name="adj" fmla="val 5618"/>
            </a:avLst>
          </a:prstGeom>
          <a:solidFill>
            <a:srgbClr val="F2F5F7"/>
          </a:solidFill>
          <a:ln/>
        </p:spPr>
      </p:sp>
      <p:sp>
        <p:nvSpPr>
          <p:cNvPr id="6" name="Shape 4"/>
          <p:cNvSpPr/>
          <p:nvPr/>
        </p:nvSpPr>
        <p:spPr>
          <a:xfrm>
            <a:off x="1202436" y="1938528"/>
            <a:ext cx="548640" cy="548640"/>
          </a:xfrm>
          <a:prstGeom prst="ellipse">
            <a:avLst/>
          </a:prstGeom>
          <a:solidFill>
            <a:srgbClr val="1C7293"/>
          </a:solidFill>
          <a:ln/>
        </p:spPr>
      </p:sp>
      <p:pic>
        <p:nvPicPr>
          <p:cNvPr id="7" name="Image 0" descr="icons/wave_FFFFFF.png"/>
          <p:cNvPicPr>
            <a:picLocks noChangeAspect="1"/>
          </p:cNvPicPr>
          <p:nvPr/>
        </p:nvPicPr>
        <p:blipFill>
          <a:blip r:embed="rId3"/>
          <a:stretch>
            <a:fillRect/>
          </a:stretch>
        </p:blipFill>
        <p:spPr>
          <a:xfrm>
            <a:off x="1345082" y="2081174"/>
            <a:ext cx="263347" cy="263347"/>
          </a:xfrm>
          <a:prstGeom prst="rect">
            <a:avLst/>
          </a:prstGeom>
        </p:spPr>
      </p:pic>
      <p:sp>
        <p:nvSpPr>
          <p:cNvPr id="8" name="Text 5"/>
          <p:cNvSpPr/>
          <p:nvPr/>
        </p:nvSpPr>
        <p:spPr>
          <a:xfrm>
            <a:off x="717804" y="2578608"/>
            <a:ext cx="1517904" cy="457200"/>
          </a:xfrm>
          <a:prstGeom prst="rect">
            <a:avLst/>
          </a:prstGeom>
          <a:noFill/>
          <a:ln/>
        </p:spPr>
        <p:txBody>
          <a:bodyPr wrap="square" lIns="0" tIns="0" rIns="0" bIns="0" rtlCol="0" anchor="ctr"/>
          <a:lstStyle/>
          <a:p>
            <a:pPr marL="0" indent="0" algn="ctr">
              <a:buNone/>
            </a:pPr>
            <a:r>
              <a:rPr lang="en-US" sz="1150" b="1" dirty="0">
                <a:solidFill>
                  <a:srgbClr val="1B2A3A"/>
                </a:solidFill>
                <a:latin typeface="Calibri" pitchFamily="34" charset="0"/>
                <a:ea typeface="Calibri" pitchFamily="34" charset="-122"/>
                <a:cs typeface="Calibri" pitchFamily="34" charset="-120"/>
              </a:rPr>
              <a:t>Raw EEG</a:t>
            </a:r>
            <a:endParaRPr lang="en-US" sz="1150" dirty="0"/>
          </a:p>
        </p:txBody>
      </p:sp>
      <p:sp>
        <p:nvSpPr>
          <p:cNvPr id="9" name="Text 6"/>
          <p:cNvSpPr/>
          <p:nvPr/>
        </p:nvSpPr>
        <p:spPr>
          <a:xfrm>
            <a:off x="717804" y="2999232"/>
            <a:ext cx="1517904" cy="411480"/>
          </a:xfrm>
          <a:prstGeom prst="rect">
            <a:avLst/>
          </a:prstGeom>
          <a:noFill/>
          <a:ln/>
        </p:spPr>
        <p:txBody>
          <a:bodyPr wrap="square" lIns="0" tIns="0" rIns="0" bIns="0" rtlCol="0" anchor="ctr"/>
          <a:lstStyle/>
          <a:p>
            <a:pPr marL="0" indent="0" algn="ctr">
              <a:buNone/>
            </a:pPr>
            <a:r>
              <a:rPr lang="en-US" sz="950" dirty="0">
                <a:solidFill>
                  <a:srgbClr val="5A6B7B"/>
                </a:solidFill>
                <a:latin typeface="Calibri" pitchFamily="34" charset="0"/>
                <a:ea typeface="Calibri" pitchFamily="34" charset="-122"/>
                <a:cs typeface="Calibri" pitchFamily="34" charset="-120"/>
              </a:rPr>
              <a:t>GDF load (MNE)</a:t>
            </a:r>
            <a:endParaRPr lang="en-US" sz="950" dirty="0"/>
          </a:p>
        </p:txBody>
      </p:sp>
      <p:sp>
        <p:nvSpPr>
          <p:cNvPr id="10" name="Shape 7"/>
          <p:cNvSpPr/>
          <p:nvPr/>
        </p:nvSpPr>
        <p:spPr>
          <a:xfrm>
            <a:off x="2308860" y="2537460"/>
            <a:ext cx="182880" cy="182880"/>
          </a:xfrm>
          <a:prstGeom prst="rightArrow">
            <a:avLst/>
          </a:prstGeom>
          <a:solidFill>
            <a:srgbClr val="1C7293"/>
          </a:solidFill>
          <a:ln/>
        </p:spPr>
      </p:sp>
      <p:sp>
        <p:nvSpPr>
          <p:cNvPr id="11" name="Shape 8"/>
          <p:cNvSpPr/>
          <p:nvPr/>
        </p:nvSpPr>
        <p:spPr>
          <a:xfrm>
            <a:off x="2510028" y="1737360"/>
            <a:ext cx="1627632" cy="1783080"/>
          </a:xfrm>
          <a:prstGeom prst="roundRect">
            <a:avLst>
              <a:gd name="adj" fmla="val 5618"/>
            </a:avLst>
          </a:prstGeom>
          <a:solidFill>
            <a:srgbClr val="F2F5F7"/>
          </a:solidFill>
          <a:ln/>
        </p:spPr>
      </p:sp>
      <p:sp>
        <p:nvSpPr>
          <p:cNvPr id="12" name="Shape 9"/>
          <p:cNvSpPr/>
          <p:nvPr/>
        </p:nvSpPr>
        <p:spPr>
          <a:xfrm>
            <a:off x="3049524" y="1938528"/>
            <a:ext cx="548640" cy="548640"/>
          </a:xfrm>
          <a:prstGeom prst="ellipse">
            <a:avLst/>
          </a:prstGeom>
          <a:solidFill>
            <a:srgbClr val="1C7293"/>
          </a:solidFill>
          <a:ln/>
        </p:spPr>
      </p:sp>
      <p:pic>
        <p:nvPicPr>
          <p:cNvPr id="13" name="Image 1" descr="icons/filter_FFFFFF.png"/>
          <p:cNvPicPr>
            <a:picLocks noChangeAspect="1"/>
          </p:cNvPicPr>
          <p:nvPr/>
        </p:nvPicPr>
        <p:blipFill>
          <a:blip r:embed="rId4"/>
          <a:stretch>
            <a:fillRect/>
          </a:stretch>
        </p:blipFill>
        <p:spPr>
          <a:xfrm>
            <a:off x="3192170" y="2081174"/>
            <a:ext cx="263347" cy="263347"/>
          </a:xfrm>
          <a:prstGeom prst="rect">
            <a:avLst/>
          </a:prstGeom>
        </p:spPr>
      </p:pic>
      <p:sp>
        <p:nvSpPr>
          <p:cNvPr id="14" name="Text 10"/>
          <p:cNvSpPr/>
          <p:nvPr/>
        </p:nvSpPr>
        <p:spPr>
          <a:xfrm>
            <a:off x="2564892" y="2578608"/>
            <a:ext cx="1517904" cy="457200"/>
          </a:xfrm>
          <a:prstGeom prst="rect">
            <a:avLst/>
          </a:prstGeom>
          <a:noFill/>
          <a:ln/>
        </p:spPr>
        <p:txBody>
          <a:bodyPr wrap="square" lIns="0" tIns="0" rIns="0" bIns="0" rtlCol="0" anchor="ctr"/>
          <a:lstStyle/>
          <a:p>
            <a:pPr marL="0" indent="0" algn="ctr">
              <a:buNone/>
            </a:pPr>
            <a:r>
              <a:rPr lang="en-US" sz="1150" b="1" dirty="0">
                <a:solidFill>
                  <a:srgbClr val="1B2A3A"/>
                </a:solidFill>
                <a:latin typeface="Calibri" pitchFamily="34" charset="0"/>
                <a:ea typeface="Calibri" pitchFamily="34" charset="-122"/>
                <a:cs typeface="Calibri" pitchFamily="34" charset="-120"/>
              </a:rPr>
              <a:t>Preprocessing</a:t>
            </a:r>
            <a:endParaRPr lang="en-US" sz="1150" dirty="0"/>
          </a:p>
        </p:txBody>
      </p:sp>
      <p:sp>
        <p:nvSpPr>
          <p:cNvPr id="15" name="Text 11"/>
          <p:cNvSpPr/>
          <p:nvPr/>
        </p:nvSpPr>
        <p:spPr>
          <a:xfrm>
            <a:off x="2564892" y="2999232"/>
            <a:ext cx="1517904" cy="411480"/>
          </a:xfrm>
          <a:prstGeom prst="rect">
            <a:avLst/>
          </a:prstGeom>
          <a:noFill/>
          <a:ln/>
        </p:spPr>
        <p:txBody>
          <a:bodyPr wrap="square" lIns="0" tIns="0" rIns="0" bIns="0" rtlCol="0" anchor="ctr"/>
          <a:lstStyle/>
          <a:p>
            <a:pPr marL="0" indent="0" algn="ctr">
              <a:buNone/>
            </a:pPr>
            <a:r>
              <a:rPr lang="en-US" sz="950" dirty="0">
                <a:solidFill>
                  <a:srgbClr val="5A6B7B"/>
                </a:solidFill>
                <a:latin typeface="Calibri" pitchFamily="34" charset="0"/>
                <a:ea typeface="Calibri" pitchFamily="34" charset="-122"/>
                <a:cs typeface="Calibri" pitchFamily="34" charset="-120"/>
              </a:rPr>
              <a:t>8-30 Hz band-pass</a:t>
            </a:r>
            <a:endParaRPr lang="en-US" sz="950" dirty="0"/>
          </a:p>
        </p:txBody>
      </p:sp>
      <p:sp>
        <p:nvSpPr>
          <p:cNvPr id="16" name="Shape 12"/>
          <p:cNvSpPr/>
          <p:nvPr/>
        </p:nvSpPr>
        <p:spPr>
          <a:xfrm>
            <a:off x="4155948" y="2537460"/>
            <a:ext cx="182880" cy="182880"/>
          </a:xfrm>
          <a:prstGeom prst="rightArrow">
            <a:avLst/>
          </a:prstGeom>
          <a:solidFill>
            <a:srgbClr val="1C7293"/>
          </a:solidFill>
          <a:ln/>
        </p:spPr>
      </p:sp>
      <p:sp>
        <p:nvSpPr>
          <p:cNvPr id="17" name="Shape 13"/>
          <p:cNvSpPr/>
          <p:nvPr/>
        </p:nvSpPr>
        <p:spPr>
          <a:xfrm>
            <a:off x="4357116" y="1737360"/>
            <a:ext cx="1627632" cy="1783080"/>
          </a:xfrm>
          <a:prstGeom prst="roundRect">
            <a:avLst>
              <a:gd name="adj" fmla="val 5618"/>
            </a:avLst>
          </a:prstGeom>
          <a:solidFill>
            <a:srgbClr val="F2F5F7"/>
          </a:solidFill>
          <a:ln/>
        </p:spPr>
      </p:sp>
      <p:sp>
        <p:nvSpPr>
          <p:cNvPr id="18" name="Shape 14"/>
          <p:cNvSpPr/>
          <p:nvPr/>
        </p:nvSpPr>
        <p:spPr>
          <a:xfrm>
            <a:off x="4896612" y="1938528"/>
            <a:ext cx="548640" cy="548640"/>
          </a:xfrm>
          <a:prstGeom prst="ellipse">
            <a:avLst/>
          </a:prstGeom>
          <a:solidFill>
            <a:srgbClr val="1C7293"/>
          </a:solidFill>
          <a:ln/>
        </p:spPr>
      </p:sp>
      <p:pic>
        <p:nvPicPr>
          <p:cNvPr id="19" name="Image 2" descr="icons/clipboard_FFFFFF.png"/>
          <p:cNvPicPr>
            <a:picLocks noChangeAspect="1"/>
          </p:cNvPicPr>
          <p:nvPr/>
        </p:nvPicPr>
        <p:blipFill>
          <a:blip r:embed="rId5"/>
          <a:stretch>
            <a:fillRect/>
          </a:stretch>
        </p:blipFill>
        <p:spPr>
          <a:xfrm>
            <a:off x="5039258" y="2081174"/>
            <a:ext cx="263347" cy="263347"/>
          </a:xfrm>
          <a:prstGeom prst="rect">
            <a:avLst/>
          </a:prstGeom>
        </p:spPr>
      </p:pic>
      <p:sp>
        <p:nvSpPr>
          <p:cNvPr id="20" name="Text 15"/>
          <p:cNvSpPr/>
          <p:nvPr/>
        </p:nvSpPr>
        <p:spPr>
          <a:xfrm>
            <a:off x="4411980" y="2578608"/>
            <a:ext cx="1517904" cy="457200"/>
          </a:xfrm>
          <a:prstGeom prst="rect">
            <a:avLst/>
          </a:prstGeom>
          <a:noFill/>
          <a:ln/>
        </p:spPr>
        <p:txBody>
          <a:bodyPr wrap="square" lIns="0" tIns="0" rIns="0" bIns="0" rtlCol="0" anchor="ctr"/>
          <a:lstStyle/>
          <a:p>
            <a:pPr marL="0" indent="0" algn="ctr">
              <a:buNone/>
            </a:pPr>
            <a:r>
              <a:rPr lang="en-US" sz="1150" b="1" dirty="0">
                <a:solidFill>
                  <a:srgbClr val="1B2A3A"/>
                </a:solidFill>
                <a:latin typeface="Calibri" pitchFamily="34" charset="0"/>
                <a:ea typeface="Calibri" pitchFamily="34" charset="-122"/>
                <a:cs typeface="Calibri" pitchFamily="34" charset="-120"/>
              </a:rPr>
              <a:t>Epoch Extraction</a:t>
            </a:r>
            <a:endParaRPr lang="en-US" sz="1150" dirty="0"/>
          </a:p>
        </p:txBody>
      </p:sp>
      <p:sp>
        <p:nvSpPr>
          <p:cNvPr id="21" name="Text 16"/>
          <p:cNvSpPr/>
          <p:nvPr/>
        </p:nvSpPr>
        <p:spPr>
          <a:xfrm>
            <a:off x="4411980" y="2999232"/>
            <a:ext cx="1517904" cy="411480"/>
          </a:xfrm>
          <a:prstGeom prst="rect">
            <a:avLst/>
          </a:prstGeom>
          <a:noFill/>
          <a:ln/>
        </p:spPr>
        <p:txBody>
          <a:bodyPr wrap="square" lIns="0" tIns="0" rIns="0" bIns="0" rtlCol="0" anchor="ctr"/>
          <a:lstStyle/>
          <a:p>
            <a:pPr marL="0" indent="0" algn="ctr">
              <a:buNone/>
            </a:pPr>
            <a:r>
              <a:rPr lang="en-US" sz="950" dirty="0">
                <a:solidFill>
                  <a:srgbClr val="5A6B7B"/>
                </a:solidFill>
                <a:latin typeface="Calibri" pitchFamily="34" charset="0"/>
                <a:ea typeface="Calibri" pitchFamily="34" charset="-122"/>
                <a:cs typeface="Calibri" pitchFamily="34" charset="-120"/>
              </a:rPr>
              <a:t>trial window</a:t>
            </a:r>
            <a:endParaRPr lang="en-US" sz="950" dirty="0"/>
          </a:p>
        </p:txBody>
      </p:sp>
      <p:sp>
        <p:nvSpPr>
          <p:cNvPr id="22" name="Shape 17"/>
          <p:cNvSpPr/>
          <p:nvPr/>
        </p:nvSpPr>
        <p:spPr>
          <a:xfrm>
            <a:off x="6003036" y="2537460"/>
            <a:ext cx="182880" cy="182880"/>
          </a:xfrm>
          <a:prstGeom prst="rightArrow">
            <a:avLst/>
          </a:prstGeom>
          <a:solidFill>
            <a:srgbClr val="1C7293"/>
          </a:solidFill>
          <a:ln/>
        </p:spPr>
      </p:sp>
      <p:sp>
        <p:nvSpPr>
          <p:cNvPr id="23" name="Shape 18"/>
          <p:cNvSpPr/>
          <p:nvPr/>
        </p:nvSpPr>
        <p:spPr>
          <a:xfrm>
            <a:off x="6204204" y="1737360"/>
            <a:ext cx="1627632" cy="1783080"/>
          </a:xfrm>
          <a:prstGeom prst="roundRect">
            <a:avLst>
              <a:gd name="adj" fmla="val 5618"/>
            </a:avLst>
          </a:prstGeom>
          <a:solidFill>
            <a:srgbClr val="F2F5F7"/>
          </a:solidFill>
          <a:ln/>
        </p:spPr>
      </p:sp>
      <p:sp>
        <p:nvSpPr>
          <p:cNvPr id="24" name="Shape 19"/>
          <p:cNvSpPr/>
          <p:nvPr/>
        </p:nvSpPr>
        <p:spPr>
          <a:xfrm>
            <a:off x="6743700" y="1938528"/>
            <a:ext cx="548640" cy="548640"/>
          </a:xfrm>
          <a:prstGeom prst="ellipse">
            <a:avLst/>
          </a:prstGeom>
          <a:solidFill>
            <a:srgbClr val="1C7293"/>
          </a:solidFill>
          <a:ln/>
        </p:spPr>
      </p:sp>
      <p:pic>
        <p:nvPicPr>
          <p:cNvPr id="25" name="Image 3" descr="icons/layers_FFFFFF.png"/>
          <p:cNvPicPr>
            <a:picLocks noChangeAspect="1"/>
          </p:cNvPicPr>
          <p:nvPr/>
        </p:nvPicPr>
        <p:blipFill>
          <a:blip r:embed="rId6"/>
          <a:stretch>
            <a:fillRect/>
          </a:stretch>
        </p:blipFill>
        <p:spPr>
          <a:xfrm>
            <a:off x="6886346" y="2081174"/>
            <a:ext cx="263347" cy="263347"/>
          </a:xfrm>
          <a:prstGeom prst="rect">
            <a:avLst/>
          </a:prstGeom>
        </p:spPr>
      </p:pic>
      <p:sp>
        <p:nvSpPr>
          <p:cNvPr id="26" name="Text 20"/>
          <p:cNvSpPr/>
          <p:nvPr/>
        </p:nvSpPr>
        <p:spPr>
          <a:xfrm>
            <a:off x="6259068" y="2578608"/>
            <a:ext cx="1517904" cy="457200"/>
          </a:xfrm>
          <a:prstGeom prst="rect">
            <a:avLst/>
          </a:prstGeom>
          <a:noFill/>
          <a:ln/>
        </p:spPr>
        <p:txBody>
          <a:bodyPr wrap="square" lIns="0" tIns="0" rIns="0" bIns="0" rtlCol="0" anchor="ctr"/>
          <a:lstStyle/>
          <a:p>
            <a:pPr marL="0" indent="0" algn="ctr">
              <a:buNone/>
            </a:pPr>
            <a:r>
              <a:rPr lang="en-US" sz="1150" b="1" dirty="0">
                <a:solidFill>
                  <a:srgbClr val="1B2A3A"/>
                </a:solidFill>
                <a:latin typeface="Calibri" pitchFamily="34" charset="0"/>
                <a:ea typeface="Calibri" pitchFamily="34" charset="-122"/>
                <a:cs typeface="Calibri" pitchFamily="34" charset="-120"/>
              </a:rPr>
              <a:t>Feature Extraction</a:t>
            </a:r>
            <a:endParaRPr lang="en-US" sz="1150" dirty="0"/>
          </a:p>
        </p:txBody>
      </p:sp>
      <p:sp>
        <p:nvSpPr>
          <p:cNvPr id="27" name="Text 21"/>
          <p:cNvSpPr/>
          <p:nvPr/>
        </p:nvSpPr>
        <p:spPr>
          <a:xfrm>
            <a:off x="6259068" y="2999232"/>
            <a:ext cx="1517904" cy="411480"/>
          </a:xfrm>
          <a:prstGeom prst="rect">
            <a:avLst/>
          </a:prstGeom>
          <a:noFill/>
          <a:ln/>
        </p:spPr>
        <p:txBody>
          <a:bodyPr wrap="square" lIns="0" tIns="0" rIns="0" bIns="0" rtlCol="0" anchor="ctr"/>
          <a:lstStyle/>
          <a:p>
            <a:pPr marL="0" indent="0" algn="ctr">
              <a:buNone/>
            </a:pPr>
            <a:r>
              <a:rPr lang="en-US" sz="950" dirty="0">
                <a:solidFill>
                  <a:srgbClr val="5A6B7B"/>
                </a:solidFill>
                <a:latin typeface="Calibri" pitchFamily="34" charset="0"/>
                <a:ea typeface="Calibri" pitchFamily="34" charset="-122"/>
                <a:cs typeface="Calibri" pitchFamily="34" charset="-120"/>
              </a:rPr>
              <a:t>CSP / FBCSP / EEGNet</a:t>
            </a:r>
            <a:endParaRPr lang="en-US" sz="950" dirty="0"/>
          </a:p>
        </p:txBody>
      </p:sp>
      <p:sp>
        <p:nvSpPr>
          <p:cNvPr id="28" name="Shape 22"/>
          <p:cNvSpPr/>
          <p:nvPr/>
        </p:nvSpPr>
        <p:spPr>
          <a:xfrm>
            <a:off x="7850124" y="2537460"/>
            <a:ext cx="182880" cy="182880"/>
          </a:xfrm>
          <a:prstGeom prst="rightArrow">
            <a:avLst/>
          </a:prstGeom>
          <a:solidFill>
            <a:srgbClr val="1C7293"/>
          </a:solidFill>
          <a:ln/>
        </p:spPr>
      </p:sp>
      <p:sp>
        <p:nvSpPr>
          <p:cNvPr id="29" name="Shape 23"/>
          <p:cNvSpPr/>
          <p:nvPr/>
        </p:nvSpPr>
        <p:spPr>
          <a:xfrm>
            <a:off x="8051292" y="1737360"/>
            <a:ext cx="1627632" cy="1783080"/>
          </a:xfrm>
          <a:prstGeom prst="roundRect">
            <a:avLst>
              <a:gd name="adj" fmla="val 5618"/>
            </a:avLst>
          </a:prstGeom>
          <a:solidFill>
            <a:srgbClr val="F2F5F7"/>
          </a:solidFill>
          <a:ln/>
        </p:spPr>
      </p:sp>
      <p:sp>
        <p:nvSpPr>
          <p:cNvPr id="30" name="Shape 24"/>
          <p:cNvSpPr/>
          <p:nvPr/>
        </p:nvSpPr>
        <p:spPr>
          <a:xfrm>
            <a:off x="8590788" y="1938528"/>
            <a:ext cx="548640" cy="548640"/>
          </a:xfrm>
          <a:prstGeom prst="ellipse">
            <a:avLst/>
          </a:prstGeom>
          <a:solidFill>
            <a:srgbClr val="1C7293"/>
          </a:solidFill>
          <a:ln/>
        </p:spPr>
      </p:sp>
      <p:pic>
        <p:nvPicPr>
          <p:cNvPr id="31" name="Image 4" descr="icons/cpu_FFFFFF.png"/>
          <p:cNvPicPr>
            <a:picLocks noChangeAspect="1"/>
          </p:cNvPicPr>
          <p:nvPr/>
        </p:nvPicPr>
        <p:blipFill>
          <a:blip r:embed="rId7"/>
          <a:stretch>
            <a:fillRect/>
          </a:stretch>
        </p:blipFill>
        <p:spPr>
          <a:xfrm>
            <a:off x="8733434" y="2081174"/>
            <a:ext cx="263347" cy="263347"/>
          </a:xfrm>
          <a:prstGeom prst="rect">
            <a:avLst/>
          </a:prstGeom>
        </p:spPr>
      </p:pic>
      <p:sp>
        <p:nvSpPr>
          <p:cNvPr id="32" name="Text 25"/>
          <p:cNvSpPr/>
          <p:nvPr/>
        </p:nvSpPr>
        <p:spPr>
          <a:xfrm>
            <a:off x="8106156" y="2578608"/>
            <a:ext cx="1517904" cy="457200"/>
          </a:xfrm>
          <a:prstGeom prst="rect">
            <a:avLst/>
          </a:prstGeom>
          <a:noFill/>
          <a:ln/>
        </p:spPr>
        <p:txBody>
          <a:bodyPr wrap="square" lIns="0" tIns="0" rIns="0" bIns="0" rtlCol="0" anchor="ctr"/>
          <a:lstStyle/>
          <a:p>
            <a:pPr marL="0" indent="0" algn="ctr">
              <a:buNone/>
            </a:pPr>
            <a:r>
              <a:rPr lang="en-US" sz="1150" b="1" dirty="0">
                <a:solidFill>
                  <a:srgbClr val="1B2A3A"/>
                </a:solidFill>
                <a:latin typeface="Calibri" pitchFamily="34" charset="0"/>
                <a:ea typeface="Calibri" pitchFamily="34" charset="-122"/>
                <a:cs typeface="Calibri" pitchFamily="34" charset="-120"/>
              </a:rPr>
              <a:t>Classifier</a:t>
            </a:r>
            <a:endParaRPr lang="en-US" sz="1150" dirty="0"/>
          </a:p>
        </p:txBody>
      </p:sp>
      <p:sp>
        <p:nvSpPr>
          <p:cNvPr id="33" name="Text 26"/>
          <p:cNvSpPr/>
          <p:nvPr/>
        </p:nvSpPr>
        <p:spPr>
          <a:xfrm>
            <a:off x="8106156" y="2999232"/>
            <a:ext cx="1517904" cy="411480"/>
          </a:xfrm>
          <a:prstGeom prst="rect">
            <a:avLst/>
          </a:prstGeom>
          <a:noFill/>
          <a:ln/>
        </p:spPr>
        <p:txBody>
          <a:bodyPr wrap="square" lIns="0" tIns="0" rIns="0" bIns="0" rtlCol="0" anchor="ctr"/>
          <a:lstStyle/>
          <a:p>
            <a:pPr marL="0" indent="0" algn="ctr">
              <a:buNone/>
            </a:pPr>
            <a:r>
              <a:rPr lang="en-US" sz="950" dirty="0">
                <a:solidFill>
                  <a:srgbClr val="5A6B7B"/>
                </a:solidFill>
                <a:latin typeface="Calibri" pitchFamily="34" charset="0"/>
                <a:ea typeface="Calibri" pitchFamily="34" charset="-122"/>
                <a:cs typeface="Calibri" pitchFamily="34" charset="-120"/>
              </a:rPr>
              <a:t>LDA / SVM</a:t>
            </a:r>
            <a:endParaRPr lang="en-US" sz="950" dirty="0"/>
          </a:p>
        </p:txBody>
      </p:sp>
      <p:sp>
        <p:nvSpPr>
          <p:cNvPr id="34" name="Shape 27"/>
          <p:cNvSpPr/>
          <p:nvPr/>
        </p:nvSpPr>
        <p:spPr>
          <a:xfrm>
            <a:off x="9697212" y="2537460"/>
            <a:ext cx="182880" cy="182880"/>
          </a:xfrm>
          <a:prstGeom prst="rightArrow">
            <a:avLst/>
          </a:prstGeom>
          <a:solidFill>
            <a:srgbClr val="1C7293"/>
          </a:solidFill>
          <a:ln/>
        </p:spPr>
      </p:sp>
      <p:sp>
        <p:nvSpPr>
          <p:cNvPr id="35" name="Shape 28"/>
          <p:cNvSpPr/>
          <p:nvPr/>
        </p:nvSpPr>
        <p:spPr>
          <a:xfrm>
            <a:off x="9898380" y="1737360"/>
            <a:ext cx="1627632" cy="1783080"/>
          </a:xfrm>
          <a:prstGeom prst="roundRect">
            <a:avLst>
              <a:gd name="adj" fmla="val 5618"/>
            </a:avLst>
          </a:prstGeom>
          <a:solidFill>
            <a:srgbClr val="12294D"/>
          </a:solidFill>
          <a:ln/>
        </p:spPr>
      </p:sp>
      <p:sp>
        <p:nvSpPr>
          <p:cNvPr id="36" name="Shape 29"/>
          <p:cNvSpPr/>
          <p:nvPr/>
        </p:nvSpPr>
        <p:spPr>
          <a:xfrm>
            <a:off x="10437876" y="1938528"/>
            <a:ext cx="548640" cy="548640"/>
          </a:xfrm>
          <a:prstGeom prst="ellipse">
            <a:avLst/>
          </a:prstGeom>
          <a:solidFill>
            <a:srgbClr val="2EC4B6"/>
          </a:solidFill>
          <a:ln/>
        </p:spPr>
      </p:sp>
      <p:pic>
        <p:nvPicPr>
          <p:cNvPr id="37" name="Image 5" descr="icons/target_FFFFFF.png"/>
          <p:cNvPicPr>
            <a:picLocks noChangeAspect="1"/>
          </p:cNvPicPr>
          <p:nvPr/>
        </p:nvPicPr>
        <p:blipFill>
          <a:blip r:embed="rId8"/>
          <a:stretch>
            <a:fillRect/>
          </a:stretch>
        </p:blipFill>
        <p:spPr>
          <a:xfrm>
            <a:off x="10580522" y="2081174"/>
            <a:ext cx="263347" cy="263347"/>
          </a:xfrm>
          <a:prstGeom prst="rect">
            <a:avLst/>
          </a:prstGeom>
        </p:spPr>
      </p:pic>
      <p:sp>
        <p:nvSpPr>
          <p:cNvPr id="38" name="Text 30"/>
          <p:cNvSpPr/>
          <p:nvPr/>
        </p:nvSpPr>
        <p:spPr>
          <a:xfrm>
            <a:off x="9953244" y="2578608"/>
            <a:ext cx="1517904" cy="45720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Predicted Class</a:t>
            </a:r>
            <a:endParaRPr lang="en-US" sz="1150" dirty="0"/>
          </a:p>
        </p:txBody>
      </p:sp>
      <p:sp>
        <p:nvSpPr>
          <p:cNvPr id="39" name="Text 31"/>
          <p:cNvSpPr/>
          <p:nvPr/>
        </p:nvSpPr>
        <p:spPr>
          <a:xfrm>
            <a:off x="9953244" y="2999232"/>
            <a:ext cx="1517904" cy="411480"/>
          </a:xfrm>
          <a:prstGeom prst="rect">
            <a:avLst/>
          </a:prstGeom>
          <a:noFill/>
          <a:ln/>
        </p:spPr>
        <p:txBody>
          <a:bodyPr wrap="square" lIns="0" tIns="0" rIns="0" bIns="0" rtlCol="0" anchor="ctr"/>
          <a:lstStyle/>
          <a:p>
            <a:pPr marL="0" indent="0" algn="ctr">
              <a:buNone/>
            </a:pPr>
            <a:r>
              <a:rPr lang="en-US" sz="950" dirty="0">
                <a:solidFill>
                  <a:srgbClr val="C9D6E3"/>
                </a:solidFill>
                <a:latin typeface="Calibri" pitchFamily="34" charset="0"/>
                <a:ea typeface="Calibri" pitchFamily="34" charset="-122"/>
                <a:cs typeface="Calibri" pitchFamily="34" charset="-120"/>
              </a:rPr>
              <a:t>L / R / Foot / T</a:t>
            </a:r>
            <a:endParaRPr lang="en-US" sz="950" dirty="0"/>
          </a:p>
        </p:txBody>
      </p:sp>
      <p:sp>
        <p:nvSpPr>
          <p:cNvPr id="40" name="Text 32"/>
          <p:cNvSpPr/>
          <p:nvPr/>
        </p:nvSpPr>
        <p:spPr>
          <a:xfrm>
            <a:off x="548640" y="3794760"/>
            <a:ext cx="7315200" cy="274320"/>
          </a:xfrm>
          <a:prstGeom prst="rect">
            <a:avLst/>
          </a:prstGeom>
          <a:noFill/>
          <a:ln/>
        </p:spPr>
        <p:txBody>
          <a:bodyPr wrap="square" lIns="0" tIns="0" rIns="0" bIns="0" rtlCol="0" anchor="ctr"/>
          <a:lstStyle/>
          <a:p>
            <a:pPr marL="0" indent="0">
              <a:buNone/>
            </a:pPr>
            <a:r>
              <a:rPr lang="en-US" sz="1150" b="1" kern="0" spc="150" dirty="0">
                <a:solidFill>
                  <a:srgbClr val="1C7293"/>
                </a:solidFill>
                <a:latin typeface="Calibri" pitchFamily="34" charset="0"/>
                <a:ea typeface="Calibri" pitchFamily="34" charset="-122"/>
                <a:cs typeface="Calibri" pitchFamily="34" charset="-120"/>
              </a:rPr>
              <a:t>EVALUATION PROTOCOLS USED</a:t>
            </a:r>
            <a:endParaRPr lang="en-US" sz="1150" dirty="0"/>
          </a:p>
        </p:txBody>
      </p:sp>
      <p:sp>
        <p:nvSpPr>
          <p:cNvPr id="41" name="Shape 33"/>
          <p:cNvSpPr/>
          <p:nvPr/>
        </p:nvSpPr>
        <p:spPr>
          <a:xfrm>
            <a:off x="548640" y="4160520"/>
            <a:ext cx="2697480" cy="1417320"/>
          </a:xfrm>
          <a:prstGeom prst="roundRect">
            <a:avLst>
              <a:gd name="adj" fmla="val 5161"/>
            </a:avLst>
          </a:prstGeom>
          <a:solidFill>
            <a:srgbClr val="F2F5F7"/>
          </a:solidFill>
          <a:ln/>
        </p:spPr>
      </p:sp>
      <p:sp>
        <p:nvSpPr>
          <p:cNvPr id="42" name="Text 34"/>
          <p:cNvSpPr/>
          <p:nvPr/>
        </p:nvSpPr>
        <p:spPr>
          <a:xfrm>
            <a:off x="713232" y="4297680"/>
            <a:ext cx="2368296" cy="365760"/>
          </a:xfrm>
          <a:prstGeom prst="rect">
            <a:avLst/>
          </a:prstGeom>
          <a:noFill/>
          <a:ln/>
        </p:spPr>
        <p:txBody>
          <a:bodyPr wrap="square" lIns="0" tIns="0" rIns="0" bIns="0" rtlCol="0" anchor="ctr"/>
          <a:lstStyle/>
          <a:p>
            <a:pPr marL="0" indent="0">
              <a:buNone/>
            </a:pPr>
            <a:r>
              <a:rPr lang="en-US" sz="1200" b="1" dirty="0">
                <a:solidFill>
                  <a:srgbClr val="12294D"/>
                </a:solidFill>
                <a:latin typeface="Calibri" pitchFamily="34" charset="0"/>
                <a:ea typeface="Calibri" pitchFamily="34" charset="-122"/>
                <a:cs typeface="Calibri" pitchFamily="34" charset="-120"/>
              </a:rPr>
              <a:t>Single-subject</a:t>
            </a:r>
            <a:endParaRPr lang="en-US" sz="1200" dirty="0"/>
          </a:p>
        </p:txBody>
      </p:sp>
      <p:sp>
        <p:nvSpPr>
          <p:cNvPr id="43" name="Text 35"/>
          <p:cNvSpPr/>
          <p:nvPr/>
        </p:nvSpPr>
        <p:spPr>
          <a:xfrm>
            <a:off x="713232" y="4663440"/>
            <a:ext cx="2368296" cy="868680"/>
          </a:xfrm>
          <a:prstGeom prst="rect">
            <a:avLst/>
          </a:prstGeom>
          <a:noFill/>
          <a:ln/>
        </p:spPr>
        <p:txBody>
          <a:bodyPr wrap="square" lIns="0" tIns="0" rIns="0" bIns="0" rtlCol="0" anchor="ctr"/>
          <a:lstStyle/>
          <a:p>
            <a:pPr marL="0" indent="0">
              <a:buNone/>
            </a:pPr>
            <a:r>
              <a:rPr lang="en-US" sz="1050" dirty="0">
                <a:solidFill>
                  <a:srgbClr val="5A6B7B"/>
                </a:solidFill>
                <a:latin typeface="Calibri" pitchFamily="34" charset="0"/>
                <a:ea typeface="Calibri" pitchFamily="34" charset="-122"/>
                <a:cs typeface="Calibri" pitchFamily="34" charset="-120"/>
              </a:rPr>
              <a:t>80/20 split &amp; 5-fold CV within one subject</a:t>
            </a:r>
            <a:endParaRPr lang="en-US" sz="1050" dirty="0"/>
          </a:p>
        </p:txBody>
      </p:sp>
      <p:sp>
        <p:nvSpPr>
          <p:cNvPr id="44" name="Shape 36"/>
          <p:cNvSpPr/>
          <p:nvPr/>
        </p:nvSpPr>
        <p:spPr>
          <a:xfrm>
            <a:off x="3383280" y="4160520"/>
            <a:ext cx="2697480" cy="1417320"/>
          </a:xfrm>
          <a:prstGeom prst="roundRect">
            <a:avLst>
              <a:gd name="adj" fmla="val 5161"/>
            </a:avLst>
          </a:prstGeom>
          <a:solidFill>
            <a:srgbClr val="F2F5F7"/>
          </a:solidFill>
          <a:ln/>
        </p:spPr>
      </p:sp>
      <p:sp>
        <p:nvSpPr>
          <p:cNvPr id="45" name="Text 37"/>
          <p:cNvSpPr/>
          <p:nvPr/>
        </p:nvSpPr>
        <p:spPr>
          <a:xfrm>
            <a:off x="3547872" y="4297680"/>
            <a:ext cx="2368296" cy="365760"/>
          </a:xfrm>
          <a:prstGeom prst="rect">
            <a:avLst/>
          </a:prstGeom>
          <a:noFill/>
          <a:ln/>
        </p:spPr>
        <p:txBody>
          <a:bodyPr wrap="square" lIns="0" tIns="0" rIns="0" bIns="0" rtlCol="0" anchor="ctr"/>
          <a:lstStyle/>
          <a:p>
            <a:pPr marL="0" indent="0">
              <a:buNone/>
            </a:pPr>
            <a:r>
              <a:rPr lang="en-US" sz="1200" b="1" dirty="0">
                <a:solidFill>
                  <a:srgbClr val="12294D"/>
                </a:solidFill>
                <a:latin typeface="Calibri" pitchFamily="34" charset="0"/>
                <a:ea typeface="Calibri" pitchFamily="34" charset="-122"/>
                <a:cs typeface="Calibri" pitchFamily="34" charset="-120"/>
              </a:rPr>
              <a:t>Multi-subject LOSO</a:t>
            </a:r>
            <a:endParaRPr lang="en-US" sz="1200" dirty="0"/>
          </a:p>
        </p:txBody>
      </p:sp>
      <p:sp>
        <p:nvSpPr>
          <p:cNvPr id="46" name="Text 38"/>
          <p:cNvSpPr/>
          <p:nvPr/>
        </p:nvSpPr>
        <p:spPr>
          <a:xfrm>
            <a:off x="3547872" y="4663440"/>
            <a:ext cx="2368296" cy="868680"/>
          </a:xfrm>
          <a:prstGeom prst="rect">
            <a:avLst/>
          </a:prstGeom>
          <a:noFill/>
          <a:ln/>
        </p:spPr>
        <p:txBody>
          <a:bodyPr wrap="square" lIns="0" tIns="0" rIns="0" bIns="0" rtlCol="0" anchor="ctr"/>
          <a:lstStyle/>
          <a:p>
            <a:pPr marL="0" indent="0">
              <a:buNone/>
            </a:pPr>
            <a:r>
              <a:rPr lang="en-US" sz="1050" dirty="0">
                <a:solidFill>
                  <a:srgbClr val="5A6B7B"/>
                </a:solidFill>
                <a:latin typeface="Calibri" pitchFamily="34" charset="0"/>
                <a:ea typeface="Calibri" pitchFamily="34" charset="-122"/>
                <a:cs typeface="Calibri" pitchFamily="34" charset="-120"/>
              </a:rPr>
              <a:t>train on 8 subjects, test on the 9th (unseen)</a:t>
            </a:r>
            <a:endParaRPr lang="en-US" sz="1050" dirty="0"/>
          </a:p>
        </p:txBody>
      </p:sp>
      <p:sp>
        <p:nvSpPr>
          <p:cNvPr id="47" name="Shape 39"/>
          <p:cNvSpPr/>
          <p:nvPr/>
        </p:nvSpPr>
        <p:spPr>
          <a:xfrm>
            <a:off x="6217920" y="4160520"/>
            <a:ext cx="2697480" cy="1417320"/>
          </a:xfrm>
          <a:prstGeom prst="roundRect">
            <a:avLst>
              <a:gd name="adj" fmla="val 5161"/>
            </a:avLst>
          </a:prstGeom>
          <a:solidFill>
            <a:srgbClr val="F2F5F7"/>
          </a:solidFill>
          <a:ln/>
        </p:spPr>
      </p:sp>
      <p:sp>
        <p:nvSpPr>
          <p:cNvPr id="48" name="Text 40"/>
          <p:cNvSpPr/>
          <p:nvPr/>
        </p:nvSpPr>
        <p:spPr>
          <a:xfrm>
            <a:off x="6382512" y="4297680"/>
            <a:ext cx="2368296" cy="365760"/>
          </a:xfrm>
          <a:prstGeom prst="rect">
            <a:avLst/>
          </a:prstGeom>
          <a:noFill/>
          <a:ln/>
        </p:spPr>
        <p:txBody>
          <a:bodyPr wrap="square" lIns="0" tIns="0" rIns="0" bIns="0" rtlCol="0" anchor="ctr"/>
          <a:lstStyle/>
          <a:p>
            <a:pPr marL="0" indent="0">
              <a:buNone/>
            </a:pPr>
            <a:r>
              <a:rPr lang="en-US" sz="1200" b="1" dirty="0">
                <a:solidFill>
                  <a:srgbClr val="12294D"/>
                </a:solidFill>
                <a:latin typeface="Calibri" pitchFamily="34" charset="0"/>
                <a:ea typeface="Calibri" pitchFamily="34" charset="-122"/>
                <a:cs typeface="Calibri" pitchFamily="34" charset="-120"/>
              </a:rPr>
              <a:t>Cross-session</a:t>
            </a:r>
            <a:endParaRPr lang="en-US" sz="1200" dirty="0"/>
          </a:p>
        </p:txBody>
      </p:sp>
      <p:sp>
        <p:nvSpPr>
          <p:cNvPr id="49" name="Text 41"/>
          <p:cNvSpPr/>
          <p:nvPr/>
        </p:nvSpPr>
        <p:spPr>
          <a:xfrm>
            <a:off x="6382512" y="4663440"/>
            <a:ext cx="2368296" cy="868680"/>
          </a:xfrm>
          <a:prstGeom prst="rect">
            <a:avLst/>
          </a:prstGeom>
          <a:noFill/>
          <a:ln/>
        </p:spPr>
        <p:txBody>
          <a:bodyPr wrap="square" lIns="0" tIns="0" rIns="0" bIns="0" rtlCol="0" anchor="ctr"/>
          <a:lstStyle/>
          <a:p>
            <a:pPr marL="0" indent="0">
              <a:buNone/>
            </a:pPr>
            <a:r>
              <a:rPr lang="en-US" sz="1050" dirty="0">
                <a:solidFill>
                  <a:srgbClr val="5A6B7B"/>
                </a:solidFill>
                <a:latin typeface="Calibri" pitchFamily="34" charset="0"/>
                <a:ea typeface="Calibri" pitchFamily="34" charset="-122"/>
                <a:cs typeface="Calibri" pitchFamily="34" charset="-120"/>
              </a:rPr>
              <a:t>train on a subject's T-session, test their own E-session</a:t>
            </a:r>
            <a:endParaRPr lang="en-US" sz="1050" dirty="0"/>
          </a:p>
        </p:txBody>
      </p:sp>
      <p:sp>
        <p:nvSpPr>
          <p:cNvPr id="50" name="Shape 42"/>
          <p:cNvSpPr/>
          <p:nvPr/>
        </p:nvSpPr>
        <p:spPr>
          <a:xfrm>
            <a:off x="9052560" y="4160520"/>
            <a:ext cx="2697480" cy="1417320"/>
          </a:xfrm>
          <a:prstGeom prst="roundRect">
            <a:avLst>
              <a:gd name="adj" fmla="val 5161"/>
            </a:avLst>
          </a:prstGeom>
          <a:solidFill>
            <a:srgbClr val="F2F5F7"/>
          </a:solidFill>
          <a:ln/>
        </p:spPr>
      </p:sp>
      <p:sp>
        <p:nvSpPr>
          <p:cNvPr id="51" name="Text 43"/>
          <p:cNvSpPr/>
          <p:nvPr/>
        </p:nvSpPr>
        <p:spPr>
          <a:xfrm>
            <a:off x="9217152" y="4297680"/>
            <a:ext cx="2368296" cy="365760"/>
          </a:xfrm>
          <a:prstGeom prst="rect">
            <a:avLst/>
          </a:prstGeom>
          <a:noFill/>
          <a:ln/>
        </p:spPr>
        <p:txBody>
          <a:bodyPr wrap="square" lIns="0" tIns="0" rIns="0" bIns="0" rtlCol="0" anchor="ctr"/>
          <a:lstStyle/>
          <a:p>
            <a:pPr marL="0" indent="0">
              <a:buNone/>
            </a:pPr>
            <a:r>
              <a:rPr lang="en-US" sz="1200" b="1" dirty="0">
                <a:solidFill>
                  <a:srgbClr val="12294D"/>
                </a:solidFill>
                <a:latin typeface="Calibri" pitchFamily="34" charset="0"/>
                <a:ea typeface="Calibri" pitchFamily="34" charset="-122"/>
                <a:cs typeface="Calibri" pitchFamily="34" charset="-120"/>
              </a:rPr>
              <a:t>Subject adaptation</a:t>
            </a:r>
            <a:endParaRPr lang="en-US" sz="1200" dirty="0"/>
          </a:p>
        </p:txBody>
      </p:sp>
      <p:sp>
        <p:nvSpPr>
          <p:cNvPr id="52" name="Text 44"/>
          <p:cNvSpPr/>
          <p:nvPr/>
        </p:nvSpPr>
        <p:spPr>
          <a:xfrm>
            <a:off x="9217152" y="4663440"/>
            <a:ext cx="2368296" cy="868680"/>
          </a:xfrm>
          <a:prstGeom prst="rect">
            <a:avLst/>
          </a:prstGeom>
          <a:noFill/>
          <a:ln/>
        </p:spPr>
        <p:txBody>
          <a:bodyPr wrap="square" lIns="0" tIns="0" rIns="0" bIns="0" rtlCol="0" anchor="ctr"/>
          <a:lstStyle/>
          <a:p>
            <a:pPr marL="0" indent="0">
              <a:buNone/>
            </a:pPr>
            <a:r>
              <a:rPr lang="en-US" sz="1050" dirty="0">
                <a:solidFill>
                  <a:srgbClr val="5A6B7B"/>
                </a:solidFill>
                <a:latin typeface="Calibri" pitchFamily="34" charset="0"/>
                <a:ea typeface="Calibri" pitchFamily="34" charset="-122"/>
                <a:cs typeface="Calibri" pitchFamily="34" charset="-120"/>
              </a:rPr>
              <a:t>8 subjects + X% of target, test on target's E-session</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01168"/>
            <a:ext cx="9144000"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RESULTS — BASELINE</a:t>
            </a:r>
            <a:endParaRPr lang="en-US" sz="1200" dirty="0"/>
          </a:p>
        </p:txBody>
      </p:sp>
      <p:sp>
        <p:nvSpPr>
          <p:cNvPr id="3" name="Text 1"/>
          <p:cNvSpPr/>
          <p:nvPr/>
        </p:nvSpPr>
        <p:spPr>
          <a:xfrm>
            <a:off x="548640" y="411480"/>
            <a:ext cx="11064240" cy="822960"/>
          </a:xfrm>
          <a:prstGeom prst="rect">
            <a:avLst/>
          </a:prstGeom>
          <a:noFill/>
          <a:ln/>
        </p:spPr>
        <p:txBody>
          <a:bodyPr wrap="square" lIns="0" tIns="0" rIns="0" bIns="0" rtlCol="0" anchor="ctr"/>
          <a:lstStyle/>
          <a:p>
            <a:pPr marL="0" indent="0" algn="l">
              <a:buNone/>
            </a:pPr>
            <a:r>
              <a:rPr lang="en-US" sz="3000" b="1" dirty="0">
                <a:solidFill>
                  <a:srgbClr val="12294D"/>
                </a:solidFill>
                <a:latin typeface="Cambria" pitchFamily="34" charset="0"/>
                <a:ea typeface="Cambria" pitchFamily="34" charset="-122"/>
                <a:cs typeface="Cambria" pitchFamily="34" charset="-120"/>
              </a:rPr>
              <a:t>Single-Subject Classification (Subject A01)</a:t>
            </a:r>
            <a:endParaRPr lang="en-US" sz="3000" dirty="0"/>
          </a:p>
        </p:txBody>
      </p:sp>
      <p:sp>
        <p:nvSpPr>
          <p:cNvPr id="4" name="Text 2"/>
          <p:cNvSpPr/>
          <p:nvPr/>
        </p:nvSpPr>
        <p:spPr>
          <a:xfrm>
            <a:off x="11365992" y="6400800"/>
            <a:ext cx="548640" cy="274320"/>
          </a:xfrm>
          <a:prstGeom prst="rect">
            <a:avLst/>
          </a:prstGeom>
          <a:noFill/>
          <a:ln/>
        </p:spPr>
        <p:txBody>
          <a:bodyPr wrap="square" lIns="0" tIns="0" rIns="0" bIns="0" rtlCol="0" anchor="ctr"/>
          <a:lstStyle/>
          <a:p>
            <a:pPr marL="0" indent="0" algn="r">
              <a:buNone/>
            </a:pPr>
            <a:r>
              <a:rPr lang="en-US" sz="1000" dirty="0">
                <a:solidFill>
                  <a:srgbClr val="A9B4BE"/>
                </a:solidFill>
                <a:latin typeface="Calibri" pitchFamily="34" charset="0"/>
                <a:ea typeface="Calibri" pitchFamily="34" charset="-122"/>
                <a:cs typeface="Calibri" pitchFamily="34" charset="-120"/>
              </a:rPr>
              <a:t>05</a:t>
            </a:r>
            <a:endParaRPr lang="en-US" sz="1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6035040" cy="1920240"/>
        </p:xfrm>
        <a:graphic>
          <a:graphicData uri="http://schemas.openxmlformats.org/drawingml/2006/table">
            <a:tbl>
              <a:tblPr/>
              <a:tblGrid>
                <a:gridCol w="237744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480060">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Classifier</a:t>
                      </a:r>
                      <a:endParaRPr lang="en-US" sz="11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12294D"/>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CSP Components</a:t>
                      </a:r>
                      <a:endParaRPr lang="en-US" sz="11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12294D"/>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Accuracy</a:t>
                      </a:r>
                      <a:endParaRPr lang="en-US" sz="11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12294D"/>
                    </a:solidFill>
                  </a:tcPr>
                </a:tc>
                <a:extLst>
                  <a:ext uri="{0D108BD9-81ED-4DB2-BD59-A6C34878D82A}">
                    <a16:rowId xmlns:a16="http://schemas.microsoft.com/office/drawing/2014/main" val="10000"/>
                  </a:ext>
                </a:extLst>
              </a:tr>
              <a:tr h="480060">
                <a:tc>
                  <a:txBody>
                    <a:bodyPr/>
                    <a:lstStyle/>
                    <a:p>
                      <a:pPr marL="0" indent="0" algn="l">
                        <a:buNone/>
                      </a:pPr>
                      <a:r>
                        <a:rPr lang="en-US" sz="1150" dirty="0">
                          <a:solidFill>
                            <a:srgbClr val="1B2A3A"/>
                          </a:solidFill>
                          <a:latin typeface="Calibri" pitchFamily="34" charset="0"/>
                          <a:ea typeface="Calibri" pitchFamily="34" charset="-122"/>
                          <a:cs typeface="Calibri" pitchFamily="34" charset="-120"/>
                        </a:rPr>
                        <a:t>LDA (baseline)</a:t>
                      </a:r>
                      <a:endParaRPr lang="en-US" sz="11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B2A3A"/>
                          </a:solidFill>
                          <a:latin typeface="Calibri" pitchFamily="34" charset="0"/>
                          <a:ea typeface="Calibri" pitchFamily="34" charset="-122"/>
                          <a:cs typeface="Calibri" pitchFamily="34" charset="-120"/>
                        </a:rPr>
                        <a:t>10</a:t>
                      </a:r>
                      <a:endParaRPr lang="en-US" sz="11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B2A3A"/>
                          </a:solidFill>
                          <a:latin typeface="Calibri" pitchFamily="34" charset="0"/>
                          <a:ea typeface="Calibri" pitchFamily="34" charset="-122"/>
                          <a:cs typeface="Calibri" pitchFamily="34" charset="-120"/>
                        </a:rPr>
                        <a:t>70.69%</a:t>
                      </a:r>
                      <a:endParaRPr lang="en-US" sz="11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80060">
                <a:tc>
                  <a:txBody>
                    <a:bodyPr/>
                    <a:lstStyle/>
                    <a:p>
                      <a:pPr marL="0" indent="0" algn="l">
                        <a:buNone/>
                      </a:pPr>
                      <a:r>
                        <a:rPr lang="en-US" sz="1150" dirty="0">
                          <a:solidFill>
                            <a:srgbClr val="1B2A3A"/>
                          </a:solidFill>
                          <a:latin typeface="Calibri" pitchFamily="34" charset="0"/>
                          <a:ea typeface="Calibri" pitchFamily="34" charset="-122"/>
                          <a:cs typeface="Calibri" pitchFamily="34" charset="-120"/>
                        </a:rPr>
                        <a:t>SVM — RBF kernel</a:t>
                      </a:r>
                      <a:endParaRPr lang="en-US" sz="11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2F5F7"/>
                    </a:solidFill>
                  </a:tcPr>
                </a:tc>
                <a:tc>
                  <a:txBody>
                    <a:bodyPr/>
                    <a:lstStyle/>
                    <a:p>
                      <a:pPr marL="0" indent="0" algn="ctr">
                        <a:buNone/>
                      </a:pPr>
                      <a:r>
                        <a:rPr lang="en-US" sz="1150" dirty="0">
                          <a:solidFill>
                            <a:srgbClr val="1B2A3A"/>
                          </a:solidFill>
                          <a:latin typeface="Calibri" pitchFamily="34" charset="0"/>
                          <a:ea typeface="Calibri" pitchFamily="34" charset="-122"/>
                          <a:cs typeface="Calibri" pitchFamily="34" charset="-120"/>
                        </a:rPr>
                        <a:t>10 (grid-searched)</a:t>
                      </a:r>
                      <a:endParaRPr lang="en-US" sz="11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2F5F7"/>
                    </a:solidFill>
                  </a:tcPr>
                </a:tc>
                <a:tc>
                  <a:txBody>
                    <a:bodyPr/>
                    <a:lstStyle/>
                    <a:p>
                      <a:pPr marL="0" indent="0" algn="ctr">
                        <a:buNone/>
                      </a:pPr>
                      <a:r>
                        <a:rPr lang="en-US" sz="1150" dirty="0">
                          <a:solidFill>
                            <a:srgbClr val="1B2A3A"/>
                          </a:solidFill>
                          <a:latin typeface="Calibri" pitchFamily="34" charset="0"/>
                          <a:ea typeface="Calibri" pitchFamily="34" charset="-122"/>
                          <a:cs typeface="Calibri" pitchFamily="34" charset="-120"/>
                        </a:rPr>
                        <a:t>did not beat linear</a:t>
                      </a:r>
                      <a:endParaRPr lang="en-US" sz="11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2F5F7"/>
                    </a:solidFill>
                  </a:tcPr>
                </a:tc>
                <a:extLst>
                  <a:ext uri="{0D108BD9-81ED-4DB2-BD59-A6C34878D82A}">
                    <a16:rowId xmlns:a16="http://schemas.microsoft.com/office/drawing/2014/main" val="10002"/>
                  </a:ext>
                </a:extLst>
              </a:tr>
              <a:tr h="480060">
                <a:tc>
                  <a:txBody>
                    <a:bodyPr/>
                    <a:lstStyle/>
                    <a:p>
                      <a:pPr marL="0" indent="0" algn="l">
                        <a:buNone/>
                      </a:pPr>
                      <a:r>
                        <a:rPr lang="en-US" sz="1150" dirty="0">
                          <a:solidFill>
                            <a:srgbClr val="1B2A3A"/>
                          </a:solidFill>
                          <a:latin typeface="Calibri" pitchFamily="34" charset="0"/>
                          <a:ea typeface="Calibri" pitchFamily="34" charset="-122"/>
                          <a:cs typeface="Calibri" pitchFamily="34" charset="-120"/>
                        </a:rPr>
                        <a:t>SVM — Linear kernel</a:t>
                      </a:r>
                      <a:endParaRPr lang="en-US" sz="11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B2A3A"/>
                          </a:solidFill>
                          <a:latin typeface="Calibri" pitchFamily="34" charset="0"/>
                          <a:ea typeface="Calibri" pitchFamily="34" charset="-122"/>
                          <a:cs typeface="Calibri" pitchFamily="34" charset="-120"/>
                        </a:rPr>
                        <a:t>12</a:t>
                      </a:r>
                      <a:endParaRPr lang="en-US" sz="11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B2A3A"/>
                          </a:solidFill>
                          <a:latin typeface="Calibri" pitchFamily="34" charset="0"/>
                          <a:ea typeface="Calibri" pitchFamily="34" charset="-122"/>
                          <a:cs typeface="Calibri" pitchFamily="34" charset="-120"/>
                        </a:rPr>
                        <a:t>83.0%  (5-fold CV)</a:t>
                      </a:r>
                      <a:endParaRPr lang="en-US" sz="11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5" name="Text 3"/>
          <p:cNvSpPr/>
          <p:nvPr/>
        </p:nvSpPr>
        <p:spPr>
          <a:xfrm>
            <a:off x="548640" y="3794760"/>
            <a:ext cx="6035040" cy="822960"/>
          </a:xfrm>
          <a:prstGeom prst="rect">
            <a:avLst/>
          </a:prstGeom>
          <a:noFill/>
          <a:ln/>
        </p:spPr>
        <p:txBody>
          <a:bodyPr wrap="square" lIns="0" tIns="0" rIns="0" bIns="0" rtlCol="0" anchor="ctr"/>
          <a:lstStyle/>
          <a:p>
            <a:pPr marL="0" indent="0">
              <a:buNone/>
            </a:pPr>
            <a:r>
              <a:rPr lang="en-US" sz="1200" i="1" dirty="0">
                <a:solidFill>
                  <a:srgbClr val="5A6B7B"/>
                </a:solidFill>
                <a:latin typeface="Calibri" pitchFamily="34" charset="0"/>
                <a:ea typeface="Calibri" pitchFamily="34" charset="-122"/>
                <a:cs typeface="Calibri" pitchFamily="34" charset="-120"/>
              </a:rPr>
              <a:t>This remains the project's performance ceiling — the number every cross-subject result is measured against.</a:t>
            </a:r>
            <a:endParaRPr lang="en-US" sz="1200" dirty="0"/>
          </a:p>
        </p:txBody>
      </p:sp>
      <p:sp>
        <p:nvSpPr>
          <p:cNvPr id="7" name="Text 4"/>
          <p:cNvSpPr/>
          <p:nvPr/>
        </p:nvSpPr>
        <p:spPr>
          <a:xfrm>
            <a:off x="548640" y="4663440"/>
            <a:ext cx="6035040" cy="777240"/>
          </a:xfrm>
          <a:prstGeom prst="rect">
            <a:avLst/>
          </a:prstGeom>
          <a:noFill/>
          <a:ln/>
        </p:spPr>
        <p:txBody>
          <a:bodyPr wrap="square" lIns="0" tIns="0" rIns="0" bIns="0" rtlCol="0" anchor="ctr"/>
          <a:lstStyle/>
          <a:p>
            <a:pPr marL="0" indent="0" algn="ctr">
              <a:buNone/>
            </a:pPr>
            <a:r>
              <a:rPr lang="en-US" sz="4000" b="1" dirty="0">
                <a:solidFill>
                  <a:srgbClr val="2EC4B6"/>
                </a:solidFill>
                <a:latin typeface="Cambria" pitchFamily="34" charset="0"/>
                <a:ea typeface="Cambria" pitchFamily="34" charset="-122"/>
                <a:cs typeface="Cambria" pitchFamily="34" charset="-120"/>
              </a:rPr>
              <a:t>83%</a:t>
            </a:r>
            <a:endParaRPr lang="en-US" sz="4000" dirty="0"/>
          </a:p>
        </p:txBody>
      </p:sp>
      <p:sp>
        <p:nvSpPr>
          <p:cNvPr id="8" name="Text 5"/>
          <p:cNvSpPr/>
          <p:nvPr/>
        </p:nvSpPr>
        <p:spPr>
          <a:xfrm>
            <a:off x="548640" y="5376672"/>
            <a:ext cx="6035040" cy="457200"/>
          </a:xfrm>
          <a:prstGeom prst="rect">
            <a:avLst/>
          </a:prstGeom>
          <a:noFill/>
          <a:ln/>
        </p:spPr>
        <p:txBody>
          <a:bodyPr wrap="square" lIns="0" tIns="0" rIns="0" bIns="0" rtlCol="0" anchor="ctr"/>
          <a:lstStyle/>
          <a:p>
            <a:pPr marL="0" indent="0" algn="ctr">
              <a:buNone/>
            </a:pPr>
            <a:r>
              <a:rPr lang="en-US" sz="1150" dirty="0">
                <a:solidFill>
                  <a:srgbClr val="5A6B7B"/>
                </a:solidFill>
                <a:latin typeface="Calibri" pitchFamily="34" charset="0"/>
                <a:ea typeface="Calibri" pitchFamily="34" charset="-122"/>
                <a:cs typeface="Calibri" pitchFamily="34" charset="-120"/>
              </a:rPr>
              <a:t>Best cross-validated accuracy  (chance level = 25%)</a:t>
            </a:r>
            <a:endParaRPr lang="en-US" sz="1150" dirty="0"/>
          </a:p>
        </p:txBody>
      </p:sp>
      <p:sp>
        <p:nvSpPr>
          <p:cNvPr id="9" name="Text 6"/>
          <p:cNvSpPr/>
          <p:nvPr/>
        </p:nvSpPr>
        <p:spPr>
          <a:xfrm>
            <a:off x="6903720" y="1463040"/>
            <a:ext cx="4754880" cy="274320"/>
          </a:xfrm>
          <a:prstGeom prst="rect">
            <a:avLst/>
          </a:prstGeom>
          <a:noFill/>
          <a:ln/>
        </p:spPr>
        <p:txBody>
          <a:bodyPr wrap="square" lIns="0" tIns="0" rIns="0" bIns="0" rtlCol="0" anchor="ctr"/>
          <a:lstStyle/>
          <a:p>
            <a:pPr marL="0" indent="0">
              <a:buNone/>
            </a:pPr>
            <a:r>
              <a:rPr lang="en-US" sz="1150" b="1" kern="0" spc="150" dirty="0">
                <a:solidFill>
                  <a:srgbClr val="1C7293"/>
                </a:solidFill>
                <a:latin typeface="Calibri" pitchFamily="34" charset="0"/>
                <a:ea typeface="Calibri" pitchFamily="34" charset="-122"/>
                <a:cs typeface="Calibri" pitchFamily="34" charset="-120"/>
              </a:rPr>
              <a:t>CSP COMPONENTS vs. ACCURACY</a:t>
            </a:r>
            <a:endParaRPr lang="en-US" sz="1150" dirty="0"/>
          </a:p>
        </p:txBody>
      </p:sp>
      <p:graphicFrame>
        <p:nvGraphicFramePr>
          <p:cNvPr id="10" name="Chart 0"/>
          <p:cNvGraphicFramePr/>
          <p:nvPr/>
        </p:nvGraphicFramePr>
        <p:xfrm>
          <a:off x="6903720" y="1783080"/>
          <a:ext cx="4754880" cy="411480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01168"/>
            <a:ext cx="9144000"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DATA INTEGRITY</a:t>
            </a:r>
            <a:endParaRPr lang="en-US" sz="1200" dirty="0"/>
          </a:p>
        </p:txBody>
      </p:sp>
      <p:sp>
        <p:nvSpPr>
          <p:cNvPr id="3" name="Text 1"/>
          <p:cNvSpPr/>
          <p:nvPr/>
        </p:nvSpPr>
        <p:spPr>
          <a:xfrm>
            <a:off x="548640" y="411480"/>
            <a:ext cx="11064240" cy="822960"/>
          </a:xfrm>
          <a:prstGeom prst="rect">
            <a:avLst/>
          </a:prstGeom>
          <a:noFill/>
          <a:ln/>
        </p:spPr>
        <p:txBody>
          <a:bodyPr wrap="square" lIns="0" tIns="0" rIns="0" bIns="0" rtlCol="0" anchor="ctr"/>
          <a:lstStyle/>
          <a:p>
            <a:pPr marL="0" indent="0" algn="l">
              <a:buNone/>
            </a:pPr>
            <a:r>
              <a:rPr lang="en-US" sz="3000" b="1" dirty="0">
                <a:solidFill>
                  <a:srgbClr val="12294D"/>
                </a:solidFill>
                <a:latin typeface="Cambria" pitchFamily="34" charset="0"/>
                <a:ea typeface="Cambria" pitchFamily="34" charset="-122"/>
                <a:cs typeface="Cambria" pitchFamily="34" charset="-120"/>
              </a:rPr>
              <a:t>A Bug I Found, Diagnosed, and Fixed</a:t>
            </a:r>
            <a:endParaRPr lang="en-US" sz="3000" dirty="0"/>
          </a:p>
        </p:txBody>
      </p:sp>
      <p:sp>
        <p:nvSpPr>
          <p:cNvPr id="4" name="Text 2"/>
          <p:cNvSpPr/>
          <p:nvPr/>
        </p:nvSpPr>
        <p:spPr>
          <a:xfrm>
            <a:off x="11365992" y="6400800"/>
            <a:ext cx="548640" cy="274320"/>
          </a:xfrm>
          <a:prstGeom prst="rect">
            <a:avLst/>
          </a:prstGeom>
          <a:noFill/>
          <a:ln/>
        </p:spPr>
        <p:txBody>
          <a:bodyPr wrap="square" lIns="0" tIns="0" rIns="0" bIns="0" rtlCol="0" anchor="ctr"/>
          <a:lstStyle/>
          <a:p>
            <a:pPr marL="0" indent="0" algn="r">
              <a:buNone/>
            </a:pPr>
            <a:r>
              <a:rPr lang="en-US" sz="1000" dirty="0">
                <a:solidFill>
                  <a:srgbClr val="A9B4BE"/>
                </a:solidFill>
                <a:latin typeface="Calibri" pitchFamily="34" charset="0"/>
                <a:ea typeface="Calibri" pitchFamily="34" charset="-122"/>
                <a:cs typeface="Calibri" pitchFamily="34" charset="-120"/>
              </a:rPr>
              <a:t>06</a:t>
            </a:r>
            <a:endParaRPr lang="en-US" sz="1000" dirty="0"/>
          </a:p>
        </p:txBody>
      </p:sp>
      <p:sp>
        <p:nvSpPr>
          <p:cNvPr id="5" name="Text 3"/>
          <p:cNvSpPr/>
          <p:nvPr/>
        </p:nvSpPr>
        <p:spPr>
          <a:xfrm>
            <a:off x="548640" y="1508760"/>
            <a:ext cx="11064240" cy="502920"/>
          </a:xfrm>
          <a:prstGeom prst="rect">
            <a:avLst/>
          </a:prstGeom>
          <a:noFill/>
          <a:ln/>
        </p:spPr>
        <p:txBody>
          <a:bodyPr wrap="square" lIns="0" tIns="0" rIns="0" bIns="0" rtlCol="0" anchor="ctr"/>
          <a:lstStyle/>
          <a:p>
            <a:pPr marL="0" indent="0">
              <a:buNone/>
            </a:pPr>
            <a:r>
              <a:rPr lang="en-US" sz="1300" dirty="0">
                <a:solidFill>
                  <a:srgbClr val="1B2A3A"/>
                </a:solidFill>
                <a:latin typeface="Calibri" pitchFamily="34" charset="0"/>
                <a:ea typeface="Calibri" pitchFamily="34" charset="-122"/>
                <a:cs typeface="Calibri" pitchFamily="34" charset="-120"/>
              </a:rPr>
              <a:t>The pooled multi-subject dataset showed an unexplained class imbalance: 648 trials each for Left/Right Hand, but only 576 for Foot/Tongue.</a:t>
            </a:r>
            <a:endParaRPr lang="en-US" sz="1300" dirty="0"/>
          </a:p>
        </p:txBody>
      </p:sp>
      <p:sp>
        <p:nvSpPr>
          <p:cNvPr id="6" name="Shape 4"/>
          <p:cNvSpPr/>
          <p:nvPr/>
        </p:nvSpPr>
        <p:spPr>
          <a:xfrm>
            <a:off x="548640" y="2148840"/>
            <a:ext cx="3566160" cy="1417320"/>
          </a:xfrm>
          <a:prstGeom prst="roundRect">
            <a:avLst>
              <a:gd name="adj" fmla="val 6452"/>
            </a:avLst>
          </a:prstGeom>
          <a:solidFill>
            <a:srgbClr val="F2F5F7"/>
          </a:solidFill>
          <a:ln/>
        </p:spPr>
      </p:sp>
      <p:sp>
        <p:nvSpPr>
          <p:cNvPr id="7" name="Shape 5"/>
          <p:cNvSpPr/>
          <p:nvPr/>
        </p:nvSpPr>
        <p:spPr>
          <a:xfrm>
            <a:off x="777240" y="2350008"/>
            <a:ext cx="502920" cy="502920"/>
          </a:xfrm>
          <a:prstGeom prst="ellipse">
            <a:avLst/>
          </a:prstGeom>
          <a:solidFill>
            <a:srgbClr val="12294D"/>
          </a:solidFill>
          <a:ln/>
        </p:spPr>
      </p:sp>
      <p:pic>
        <p:nvPicPr>
          <p:cNvPr id="8" name="Image 0" descr="icons/target_FFFFFF.png"/>
          <p:cNvPicPr>
            <a:picLocks noChangeAspect="1"/>
          </p:cNvPicPr>
          <p:nvPr/>
        </p:nvPicPr>
        <p:blipFill>
          <a:blip r:embed="rId3"/>
          <a:stretch>
            <a:fillRect/>
          </a:stretch>
        </p:blipFill>
        <p:spPr>
          <a:xfrm>
            <a:off x="907999" y="2480767"/>
            <a:ext cx="241402" cy="241402"/>
          </a:xfrm>
          <a:prstGeom prst="rect">
            <a:avLst/>
          </a:prstGeom>
        </p:spPr>
      </p:pic>
      <p:sp>
        <p:nvSpPr>
          <p:cNvPr id="9" name="Text 6"/>
          <p:cNvSpPr/>
          <p:nvPr/>
        </p:nvSpPr>
        <p:spPr>
          <a:xfrm>
            <a:off x="1417320" y="2368296"/>
            <a:ext cx="2468880" cy="365760"/>
          </a:xfrm>
          <a:prstGeom prst="rect">
            <a:avLst/>
          </a:prstGeom>
          <a:noFill/>
          <a:ln/>
        </p:spPr>
        <p:txBody>
          <a:bodyPr wrap="square" lIns="0" tIns="0" rIns="0" bIns="0" rtlCol="0" anchor="ctr"/>
          <a:lstStyle/>
          <a:p>
            <a:pPr marL="0" indent="0">
              <a:buNone/>
            </a:pPr>
            <a:r>
              <a:rPr lang="en-US" sz="1350" b="1" dirty="0">
                <a:solidFill>
                  <a:srgbClr val="12294D"/>
                </a:solidFill>
                <a:latin typeface="Calibri" pitchFamily="34" charset="0"/>
                <a:ea typeface="Calibri" pitchFamily="34" charset="-122"/>
                <a:cs typeface="Calibri" pitchFamily="34" charset="-120"/>
              </a:rPr>
              <a:t>Investigated</a:t>
            </a:r>
            <a:endParaRPr lang="en-US" sz="1350" dirty="0"/>
          </a:p>
        </p:txBody>
      </p:sp>
      <p:sp>
        <p:nvSpPr>
          <p:cNvPr id="10" name="Text 7"/>
          <p:cNvSpPr/>
          <p:nvPr/>
        </p:nvSpPr>
        <p:spPr>
          <a:xfrm>
            <a:off x="777240" y="2926080"/>
            <a:ext cx="3108960" cy="548640"/>
          </a:xfrm>
          <a:prstGeom prst="rect">
            <a:avLst/>
          </a:prstGeom>
          <a:noFill/>
          <a:ln/>
        </p:spPr>
        <p:txBody>
          <a:bodyPr wrap="square" lIns="0" tIns="0" rIns="0" bIns="0" rtlCol="0" anchor="ctr"/>
          <a:lstStyle/>
          <a:p>
            <a:pPr marL="0" indent="0">
              <a:buNone/>
            </a:pPr>
            <a:r>
              <a:rPr lang="en-US" sz="1050" dirty="0">
                <a:solidFill>
                  <a:srgbClr val="1B2A3A"/>
                </a:solidFill>
                <a:latin typeface="Calibri" pitchFamily="34" charset="0"/>
                <a:ea typeface="Calibri" pitchFamily="34" charset="-122"/>
                <a:cs typeface="Calibri" pitchFamily="34" charset="-120"/>
              </a:rPr>
              <a:t>Checked A04T's raw file directly — it actually has a perfectly balanced 72 trials per class.</a:t>
            </a:r>
            <a:endParaRPr lang="en-US" sz="1050" dirty="0"/>
          </a:p>
        </p:txBody>
      </p:sp>
      <p:sp>
        <p:nvSpPr>
          <p:cNvPr id="11" name="Shape 8"/>
          <p:cNvSpPr/>
          <p:nvPr/>
        </p:nvSpPr>
        <p:spPr>
          <a:xfrm>
            <a:off x="4297680" y="2148840"/>
            <a:ext cx="3566160" cy="1417320"/>
          </a:xfrm>
          <a:prstGeom prst="roundRect">
            <a:avLst>
              <a:gd name="adj" fmla="val 6452"/>
            </a:avLst>
          </a:prstGeom>
          <a:solidFill>
            <a:srgbClr val="F2F5F7"/>
          </a:solidFill>
          <a:ln/>
        </p:spPr>
      </p:sp>
      <p:sp>
        <p:nvSpPr>
          <p:cNvPr id="12" name="Shape 9"/>
          <p:cNvSpPr/>
          <p:nvPr/>
        </p:nvSpPr>
        <p:spPr>
          <a:xfrm>
            <a:off x="4526280" y="2350008"/>
            <a:ext cx="502920" cy="502920"/>
          </a:xfrm>
          <a:prstGeom prst="ellipse">
            <a:avLst/>
          </a:prstGeom>
          <a:solidFill>
            <a:srgbClr val="12294D"/>
          </a:solidFill>
          <a:ln/>
        </p:spPr>
      </p:sp>
      <p:pic>
        <p:nvPicPr>
          <p:cNvPr id="13" name="Image 1" descr="icons/cogs_FFFFFF.png"/>
          <p:cNvPicPr>
            <a:picLocks noChangeAspect="1"/>
          </p:cNvPicPr>
          <p:nvPr/>
        </p:nvPicPr>
        <p:blipFill>
          <a:blip r:embed="rId4"/>
          <a:stretch>
            <a:fillRect/>
          </a:stretch>
        </p:blipFill>
        <p:spPr>
          <a:xfrm>
            <a:off x="4657039" y="2480767"/>
            <a:ext cx="241402" cy="241402"/>
          </a:xfrm>
          <a:prstGeom prst="rect">
            <a:avLst/>
          </a:prstGeom>
        </p:spPr>
      </p:pic>
      <p:sp>
        <p:nvSpPr>
          <p:cNvPr id="14" name="Text 10"/>
          <p:cNvSpPr/>
          <p:nvPr/>
        </p:nvSpPr>
        <p:spPr>
          <a:xfrm>
            <a:off x="5166360" y="2368296"/>
            <a:ext cx="2468880" cy="365760"/>
          </a:xfrm>
          <a:prstGeom prst="rect">
            <a:avLst/>
          </a:prstGeom>
          <a:noFill/>
          <a:ln/>
        </p:spPr>
        <p:txBody>
          <a:bodyPr wrap="square" lIns="0" tIns="0" rIns="0" bIns="0" rtlCol="0" anchor="ctr"/>
          <a:lstStyle/>
          <a:p>
            <a:pPr marL="0" indent="0">
              <a:buNone/>
            </a:pPr>
            <a:r>
              <a:rPr lang="en-US" sz="1350" b="1" dirty="0">
                <a:solidFill>
                  <a:srgbClr val="12294D"/>
                </a:solidFill>
                <a:latin typeface="Calibri" pitchFamily="34" charset="0"/>
                <a:ea typeface="Calibri" pitchFamily="34" charset="-122"/>
                <a:cs typeface="Calibri" pitchFamily="34" charset="-120"/>
              </a:rPr>
              <a:t>Root Cause</a:t>
            </a:r>
            <a:endParaRPr lang="en-US" sz="1350" dirty="0"/>
          </a:p>
        </p:txBody>
      </p:sp>
      <p:sp>
        <p:nvSpPr>
          <p:cNvPr id="15" name="Text 11"/>
          <p:cNvSpPr/>
          <p:nvPr/>
        </p:nvSpPr>
        <p:spPr>
          <a:xfrm>
            <a:off x="4526280" y="2926080"/>
            <a:ext cx="3108960" cy="548640"/>
          </a:xfrm>
          <a:prstGeom prst="rect">
            <a:avLst/>
          </a:prstGeom>
          <a:noFill/>
          <a:ln/>
        </p:spPr>
        <p:txBody>
          <a:bodyPr wrap="square" lIns="0" tIns="0" rIns="0" bIns="0" rtlCol="0" anchor="ctr"/>
          <a:lstStyle/>
          <a:p>
            <a:pPr marL="0" indent="0">
              <a:buNone/>
            </a:pPr>
            <a:r>
              <a:rPr lang="en-US" sz="1050" dirty="0">
                <a:solidFill>
                  <a:srgbClr val="1B2A3A"/>
                </a:solidFill>
                <a:latin typeface="Calibri" pitchFamily="34" charset="0"/>
                <a:ea typeface="Calibri" pitchFamily="34" charset="-122"/>
                <a:cs typeface="Calibri" pitchFamily="34" charset="-120"/>
              </a:rPr>
              <a:t>Code assumed a fixed number for each class, but MNE assigns numbers per file — A04T's numbering shifted, so Foot/Tongue got mislabeled as Left/Right.</a:t>
            </a:r>
            <a:endParaRPr lang="en-US" sz="1050" dirty="0"/>
          </a:p>
        </p:txBody>
      </p:sp>
      <p:sp>
        <p:nvSpPr>
          <p:cNvPr id="16" name="Shape 12"/>
          <p:cNvSpPr/>
          <p:nvPr/>
        </p:nvSpPr>
        <p:spPr>
          <a:xfrm>
            <a:off x="8046720" y="2148840"/>
            <a:ext cx="3566160" cy="1417320"/>
          </a:xfrm>
          <a:prstGeom prst="roundRect">
            <a:avLst>
              <a:gd name="adj" fmla="val 6452"/>
            </a:avLst>
          </a:prstGeom>
          <a:solidFill>
            <a:srgbClr val="F2F5F7"/>
          </a:solidFill>
          <a:ln/>
        </p:spPr>
      </p:sp>
      <p:sp>
        <p:nvSpPr>
          <p:cNvPr id="17" name="Shape 13"/>
          <p:cNvSpPr/>
          <p:nvPr/>
        </p:nvSpPr>
        <p:spPr>
          <a:xfrm>
            <a:off x="8275320" y="2350008"/>
            <a:ext cx="502920" cy="502920"/>
          </a:xfrm>
          <a:prstGeom prst="ellipse">
            <a:avLst/>
          </a:prstGeom>
          <a:solidFill>
            <a:srgbClr val="12294D"/>
          </a:solidFill>
          <a:ln/>
        </p:spPr>
      </p:sp>
      <p:pic>
        <p:nvPicPr>
          <p:cNvPr id="18" name="Image 2" descr="icons/check_FFFFFF.png"/>
          <p:cNvPicPr>
            <a:picLocks noChangeAspect="1"/>
          </p:cNvPicPr>
          <p:nvPr/>
        </p:nvPicPr>
        <p:blipFill>
          <a:blip r:embed="rId5"/>
          <a:stretch>
            <a:fillRect/>
          </a:stretch>
        </p:blipFill>
        <p:spPr>
          <a:xfrm>
            <a:off x="8406079" y="2480767"/>
            <a:ext cx="241402" cy="241402"/>
          </a:xfrm>
          <a:prstGeom prst="rect">
            <a:avLst/>
          </a:prstGeom>
        </p:spPr>
      </p:pic>
      <p:sp>
        <p:nvSpPr>
          <p:cNvPr id="19" name="Text 14"/>
          <p:cNvSpPr/>
          <p:nvPr/>
        </p:nvSpPr>
        <p:spPr>
          <a:xfrm>
            <a:off x="8915400" y="2368296"/>
            <a:ext cx="2468880" cy="365760"/>
          </a:xfrm>
          <a:prstGeom prst="rect">
            <a:avLst/>
          </a:prstGeom>
          <a:noFill/>
          <a:ln/>
        </p:spPr>
        <p:txBody>
          <a:bodyPr wrap="square" lIns="0" tIns="0" rIns="0" bIns="0" rtlCol="0" anchor="ctr"/>
          <a:lstStyle/>
          <a:p>
            <a:pPr marL="0" indent="0">
              <a:buNone/>
            </a:pPr>
            <a:r>
              <a:rPr lang="en-US" sz="1350" b="1" dirty="0">
                <a:solidFill>
                  <a:srgbClr val="12294D"/>
                </a:solidFill>
                <a:latin typeface="Calibri" pitchFamily="34" charset="0"/>
                <a:ea typeface="Calibri" pitchFamily="34" charset="-122"/>
                <a:cs typeface="Calibri" pitchFamily="34" charset="-120"/>
              </a:rPr>
              <a:t>Fixed</a:t>
            </a:r>
            <a:endParaRPr lang="en-US" sz="1350" dirty="0"/>
          </a:p>
        </p:txBody>
      </p:sp>
      <p:sp>
        <p:nvSpPr>
          <p:cNvPr id="20" name="Text 15"/>
          <p:cNvSpPr/>
          <p:nvPr/>
        </p:nvSpPr>
        <p:spPr>
          <a:xfrm>
            <a:off x="8275320" y="2926080"/>
            <a:ext cx="3108960" cy="548640"/>
          </a:xfrm>
          <a:prstGeom prst="rect">
            <a:avLst/>
          </a:prstGeom>
          <a:noFill/>
          <a:ln/>
        </p:spPr>
        <p:txBody>
          <a:bodyPr wrap="square" lIns="0" tIns="0" rIns="0" bIns="0" rtlCol="0" anchor="ctr"/>
          <a:lstStyle/>
          <a:p>
            <a:pPr marL="0" indent="0">
              <a:buNone/>
            </a:pPr>
            <a:r>
              <a:rPr lang="en-US" sz="1050" dirty="0">
                <a:solidFill>
                  <a:srgbClr val="1B2A3A"/>
                </a:solidFill>
                <a:latin typeface="Calibri" pitchFamily="34" charset="0"/>
                <a:ea typeface="Calibri" pitchFamily="34" charset="-122"/>
                <a:cs typeface="Calibri" pitchFamily="34" charset="-120"/>
              </a:rPr>
              <a:t>Look up each class by its description string, not a fixed number. Applied to all 4 affected notebooks, then re-ran everything.</a:t>
            </a:r>
            <a:endParaRPr lang="en-US" sz="1050" dirty="0"/>
          </a:p>
        </p:txBody>
      </p:sp>
      <p:sp>
        <p:nvSpPr>
          <p:cNvPr id="21" name="Text 16"/>
          <p:cNvSpPr/>
          <p:nvPr/>
        </p:nvSpPr>
        <p:spPr>
          <a:xfrm>
            <a:off x="548640" y="3886200"/>
            <a:ext cx="3566160" cy="777240"/>
          </a:xfrm>
          <a:prstGeom prst="rect">
            <a:avLst/>
          </a:prstGeom>
          <a:noFill/>
          <a:ln/>
        </p:spPr>
        <p:txBody>
          <a:bodyPr wrap="square" lIns="0" tIns="0" rIns="0" bIns="0" rtlCol="0" anchor="ctr"/>
          <a:lstStyle/>
          <a:p>
            <a:pPr marL="0" indent="0" algn="ctr">
              <a:buNone/>
            </a:pPr>
            <a:r>
              <a:rPr lang="en-US" sz="4000" b="1" dirty="0">
                <a:solidFill>
                  <a:srgbClr val="1C7293"/>
                </a:solidFill>
                <a:latin typeface="Cambria" pitchFamily="34" charset="0"/>
                <a:ea typeface="Cambria" pitchFamily="34" charset="-122"/>
                <a:cs typeface="Cambria" pitchFamily="34" charset="-120"/>
              </a:rPr>
              <a:t>2,448 → 2,592</a:t>
            </a:r>
            <a:endParaRPr lang="en-US" sz="4000" dirty="0"/>
          </a:p>
        </p:txBody>
      </p:sp>
      <p:sp>
        <p:nvSpPr>
          <p:cNvPr id="22" name="Text 17"/>
          <p:cNvSpPr/>
          <p:nvPr/>
        </p:nvSpPr>
        <p:spPr>
          <a:xfrm>
            <a:off x="548640" y="4599432"/>
            <a:ext cx="3566160" cy="457200"/>
          </a:xfrm>
          <a:prstGeom prst="rect">
            <a:avLst/>
          </a:prstGeom>
          <a:noFill/>
          <a:ln/>
        </p:spPr>
        <p:txBody>
          <a:bodyPr wrap="square" lIns="0" tIns="0" rIns="0" bIns="0" rtlCol="0" anchor="ctr"/>
          <a:lstStyle/>
          <a:p>
            <a:pPr marL="0" indent="0" algn="ctr">
              <a:buNone/>
            </a:pPr>
            <a:r>
              <a:rPr lang="en-US" sz="1150" dirty="0">
                <a:solidFill>
                  <a:srgbClr val="5A6B7B"/>
                </a:solidFill>
                <a:latin typeface="Calibri" pitchFamily="34" charset="0"/>
                <a:ea typeface="Calibri" pitchFamily="34" charset="-122"/>
                <a:cs typeface="Calibri" pitchFamily="34" charset="-120"/>
              </a:rPr>
              <a:t>trials (imbalanced → perfectly balanced)</a:t>
            </a:r>
            <a:endParaRPr lang="en-US" sz="1150" dirty="0"/>
          </a:p>
        </p:txBody>
      </p:sp>
      <p:sp>
        <p:nvSpPr>
          <p:cNvPr id="23" name="Text 18"/>
          <p:cNvSpPr/>
          <p:nvPr/>
        </p:nvSpPr>
        <p:spPr>
          <a:xfrm>
            <a:off x="4297680" y="3886200"/>
            <a:ext cx="3566160" cy="777240"/>
          </a:xfrm>
          <a:prstGeom prst="rect">
            <a:avLst/>
          </a:prstGeom>
          <a:noFill/>
          <a:ln/>
        </p:spPr>
        <p:txBody>
          <a:bodyPr wrap="square" lIns="0" tIns="0" rIns="0" bIns="0" rtlCol="0" anchor="ctr"/>
          <a:lstStyle/>
          <a:p>
            <a:pPr algn="ctr"/>
            <a:r>
              <a:rPr lang="en-US" sz="3800" b="1" dirty="0">
                <a:solidFill>
                  <a:srgbClr val="1C8577"/>
                </a:solidFill>
                <a:latin typeface="Cambria"/>
                <a:ea typeface="Cambria"/>
              </a:rPr>
              <a:t>17.4% → 25.0%</a:t>
            </a:r>
            <a:endParaRPr lang="en-US" sz="3800">
              <a:ea typeface="Calibri"/>
              <a:cs typeface="Calibri"/>
            </a:endParaRPr>
          </a:p>
        </p:txBody>
      </p:sp>
      <p:sp>
        <p:nvSpPr>
          <p:cNvPr id="24" name="Text 19"/>
          <p:cNvSpPr/>
          <p:nvPr/>
        </p:nvSpPr>
        <p:spPr>
          <a:xfrm>
            <a:off x="4297680" y="4599432"/>
            <a:ext cx="3566160" cy="457200"/>
          </a:xfrm>
          <a:prstGeom prst="rect">
            <a:avLst/>
          </a:prstGeom>
          <a:noFill/>
          <a:ln/>
        </p:spPr>
        <p:txBody>
          <a:bodyPr wrap="square" lIns="0" tIns="0" rIns="0" bIns="0" rtlCol="0" anchor="ctr"/>
          <a:lstStyle/>
          <a:p>
            <a:pPr marL="0" indent="0" algn="ctr">
              <a:buNone/>
            </a:pPr>
            <a:r>
              <a:rPr lang="en-US" sz="1150" dirty="0">
                <a:solidFill>
                  <a:srgbClr val="5A6B7B"/>
                </a:solidFill>
                <a:latin typeface="Calibri" pitchFamily="34" charset="0"/>
                <a:ea typeface="Calibri" pitchFamily="34" charset="-122"/>
                <a:cs typeface="Calibri" pitchFamily="34" charset="-120"/>
              </a:rPr>
              <a:t>A04T's own LOSO accuracy (below chance → at chance)</a:t>
            </a:r>
            <a:endParaRPr lang="en-US" sz="1150" dirty="0"/>
          </a:p>
        </p:txBody>
      </p:sp>
      <p:sp>
        <p:nvSpPr>
          <p:cNvPr id="25" name="Text 20"/>
          <p:cNvSpPr/>
          <p:nvPr/>
        </p:nvSpPr>
        <p:spPr>
          <a:xfrm>
            <a:off x="8046720" y="3886200"/>
            <a:ext cx="3566160" cy="777240"/>
          </a:xfrm>
          <a:prstGeom prst="rect">
            <a:avLst/>
          </a:prstGeom>
          <a:noFill/>
          <a:ln/>
        </p:spPr>
        <p:txBody>
          <a:bodyPr wrap="square" lIns="0" tIns="0" rIns="0" bIns="0" rtlCol="0" anchor="ctr"/>
          <a:lstStyle/>
          <a:p>
            <a:pPr marL="0" indent="0" algn="ctr">
              <a:buNone/>
            </a:pPr>
            <a:r>
              <a:rPr lang="en-US" sz="4000" b="1" dirty="0">
                <a:solidFill>
                  <a:srgbClr val="2EC4B6"/>
                </a:solidFill>
                <a:latin typeface="Cambria" pitchFamily="34" charset="0"/>
                <a:ea typeface="Cambria" pitchFamily="34" charset="-122"/>
                <a:cs typeface="Cambria" pitchFamily="34" charset="-120"/>
              </a:rPr>
              <a:t>4 notebooks</a:t>
            </a:r>
            <a:endParaRPr lang="en-US" sz="4000" dirty="0"/>
          </a:p>
        </p:txBody>
      </p:sp>
      <p:sp>
        <p:nvSpPr>
          <p:cNvPr id="26" name="Text 21"/>
          <p:cNvSpPr/>
          <p:nvPr/>
        </p:nvSpPr>
        <p:spPr>
          <a:xfrm>
            <a:off x="8046720" y="4599432"/>
            <a:ext cx="3566160" cy="457200"/>
          </a:xfrm>
          <a:prstGeom prst="rect">
            <a:avLst/>
          </a:prstGeom>
          <a:noFill/>
          <a:ln/>
        </p:spPr>
        <p:txBody>
          <a:bodyPr wrap="square" lIns="0" tIns="0" rIns="0" bIns="0" rtlCol="0" anchor="ctr"/>
          <a:lstStyle/>
          <a:p>
            <a:pPr marL="0" indent="0" algn="ctr">
              <a:buNone/>
            </a:pPr>
            <a:r>
              <a:rPr lang="en-US" sz="1150" dirty="0">
                <a:solidFill>
                  <a:srgbClr val="5A6B7B"/>
                </a:solidFill>
                <a:latin typeface="Calibri" pitchFamily="34" charset="0"/>
                <a:ea typeface="Calibri" pitchFamily="34" charset="-122"/>
                <a:cs typeface="Calibri" pitchFamily="34" charset="-120"/>
              </a:rPr>
              <a:t>patched and re-verified</a:t>
            </a:r>
            <a:endParaRPr lang="en-US" sz="1150" dirty="0"/>
          </a:p>
        </p:txBody>
      </p:sp>
      <p:sp>
        <p:nvSpPr>
          <p:cNvPr id="27" name="Shape 22"/>
          <p:cNvSpPr/>
          <p:nvPr/>
        </p:nvSpPr>
        <p:spPr>
          <a:xfrm>
            <a:off x="548640" y="5623560"/>
            <a:ext cx="11091672" cy="731520"/>
          </a:xfrm>
          <a:prstGeom prst="roundRect">
            <a:avLst>
              <a:gd name="adj" fmla="val 10000"/>
            </a:avLst>
          </a:prstGeom>
          <a:solidFill>
            <a:srgbClr val="E8F7F5"/>
          </a:solidFill>
          <a:ln/>
        </p:spPr>
      </p:sp>
      <p:sp>
        <p:nvSpPr>
          <p:cNvPr id="28" name="Text 23"/>
          <p:cNvSpPr/>
          <p:nvPr/>
        </p:nvSpPr>
        <p:spPr>
          <a:xfrm>
            <a:off x="777240" y="5696712"/>
            <a:ext cx="10634472" cy="585216"/>
          </a:xfrm>
          <a:prstGeom prst="rect">
            <a:avLst/>
          </a:prstGeom>
          <a:noFill/>
          <a:ln/>
        </p:spPr>
        <p:txBody>
          <a:bodyPr wrap="square" lIns="0" tIns="0" rIns="0" bIns="0" rtlCol="0" anchor="ctr"/>
          <a:lstStyle/>
          <a:p>
            <a:pPr marL="0" indent="0">
              <a:buNone/>
            </a:pPr>
            <a:r>
              <a:rPr lang="en-US" sz="1150" b="1" dirty="0">
                <a:solidFill>
                  <a:srgbClr val="1C8577"/>
                </a:solidFill>
                <a:latin typeface="Calibri" pitchFamily="34" charset="0"/>
                <a:ea typeface="Calibri" pitchFamily="34" charset="-122"/>
                <a:cs typeface="Calibri" pitchFamily="34" charset="-120"/>
              </a:rPr>
              <a:t>✓ </a:t>
            </a:r>
            <a:r>
              <a:rPr lang="en-US" sz="1150" dirty="0">
                <a:solidFill>
                  <a:srgbClr val="1F2937"/>
                </a:solidFill>
                <a:latin typeface="Calibri" pitchFamily="34" charset="0"/>
                <a:ea typeface="Calibri" pitchFamily="34" charset="-122"/>
                <a:cs typeface="Calibri" pitchFamily="34" charset="-120"/>
              </a:rPr>
              <a:t>A04T moving from the worst-performing subject to right at chance level is direct evidence the fix worked — not just a cleaner dataset, a measurably fairer one.</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01168"/>
            <a:ext cx="9144000"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RESULTS — CORRECTED</a:t>
            </a:r>
            <a:endParaRPr lang="en-US" sz="1200" dirty="0"/>
          </a:p>
        </p:txBody>
      </p:sp>
      <p:sp>
        <p:nvSpPr>
          <p:cNvPr id="3" name="Text 1"/>
          <p:cNvSpPr/>
          <p:nvPr/>
        </p:nvSpPr>
        <p:spPr>
          <a:xfrm>
            <a:off x="548640" y="411480"/>
            <a:ext cx="11064240" cy="822960"/>
          </a:xfrm>
          <a:prstGeom prst="rect">
            <a:avLst/>
          </a:prstGeom>
          <a:noFill/>
          <a:ln/>
        </p:spPr>
        <p:txBody>
          <a:bodyPr wrap="square" lIns="0" tIns="0" rIns="0" bIns="0" rtlCol="0" anchor="ctr"/>
          <a:lstStyle/>
          <a:p>
            <a:pPr marL="0" indent="0" algn="l">
              <a:buNone/>
            </a:pPr>
            <a:r>
              <a:rPr lang="en-US" sz="3000" b="1" dirty="0">
                <a:solidFill>
                  <a:srgbClr val="12294D"/>
                </a:solidFill>
                <a:latin typeface="Cambria" pitchFamily="34" charset="0"/>
                <a:ea typeface="Cambria" pitchFamily="34" charset="-122"/>
                <a:cs typeface="Cambria" pitchFamily="34" charset="-120"/>
              </a:rPr>
              <a:t>Multi-Subject LOSO, On the Fixed Dataset</a:t>
            </a:r>
            <a:endParaRPr lang="en-US" sz="3000" dirty="0"/>
          </a:p>
        </p:txBody>
      </p:sp>
      <p:sp>
        <p:nvSpPr>
          <p:cNvPr id="4" name="Text 2"/>
          <p:cNvSpPr/>
          <p:nvPr/>
        </p:nvSpPr>
        <p:spPr>
          <a:xfrm>
            <a:off x="11365992" y="6400800"/>
            <a:ext cx="548640" cy="274320"/>
          </a:xfrm>
          <a:prstGeom prst="rect">
            <a:avLst/>
          </a:prstGeom>
          <a:noFill/>
          <a:ln/>
        </p:spPr>
        <p:txBody>
          <a:bodyPr wrap="square" lIns="0" tIns="0" rIns="0" bIns="0" rtlCol="0" anchor="ctr"/>
          <a:lstStyle/>
          <a:p>
            <a:pPr marL="0" indent="0" algn="r">
              <a:buNone/>
            </a:pPr>
            <a:r>
              <a:rPr lang="en-US" sz="1000" dirty="0">
                <a:solidFill>
                  <a:srgbClr val="A9B4BE"/>
                </a:solidFill>
                <a:latin typeface="Calibri" pitchFamily="34" charset="0"/>
                <a:ea typeface="Calibri" pitchFamily="34" charset="-122"/>
                <a:cs typeface="Calibri" pitchFamily="34" charset="-120"/>
              </a:rPr>
              <a:t>07</a:t>
            </a:r>
            <a:endParaRPr lang="en-US" sz="1000" dirty="0"/>
          </a:p>
        </p:txBody>
      </p:sp>
      <p:sp>
        <p:nvSpPr>
          <p:cNvPr id="5" name="Text 3"/>
          <p:cNvSpPr/>
          <p:nvPr/>
        </p:nvSpPr>
        <p:spPr>
          <a:xfrm>
            <a:off x="548640" y="1463040"/>
            <a:ext cx="11064240" cy="548640"/>
          </a:xfrm>
          <a:prstGeom prst="rect">
            <a:avLst/>
          </a:prstGeom>
          <a:noFill/>
          <a:ln/>
        </p:spPr>
        <p:txBody>
          <a:bodyPr wrap="square" lIns="0" tIns="0" rIns="0" bIns="0" rtlCol="0" anchor="ctr"/>
          <a:lstStyle/>
          <a:p>
            <a:pPr marL="0" indent="0">
              <a:buNone/>
            </a:pPr>
            <a:r>
              <a:rPr lang="en-US" sz="1500" b="1" dirty="0">
                <a:solidFill>
                  <a:srgbClr val="12294D"/>
                </a:solidFill>
                <a:latin typeface="Calibri" pitchFamily="34" charset="0"/>
                <a:ea typeface="Calibri" pitchFamily="34" charset="-122"/>
                <a:cs typeface="Calibri" pitchFamily="34" charset="-120"/>
              </a:rPr>
              <a:t>31.40% ± 6.77%  </a:t>
            </a:r>
            <a:r>
              <a:rPr lang="en-US" sz="1300" dirty="0">
                <a:solidFill>
                  <a:srgbClr val="5A6B7B"/>
                </a:solidFill>
                <a:latin typeface="Calibri" pitchFamily="34" charset="0"/>
                <a:ea typeface="Calibri" pitchFamily="34" charset="-122"/>
                <a:cs typeface="Calibri" pitchFamily="34" charset="-120"/>
              </a:rPr>
              <a:t>— basic LOSO baseline, 16 CSP components, GridSearchCV-tuned RBF-SVM, on the corrected 2,592-trial dataset (up from 28.59% pre-fix).</a:t>
            </a:r>
            <a:endParaRPr lang="en-US" sz="15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2148840"/>
          <a:ext cx="6035040" cy="1828800"/>
        </p:xfrm>
        <a:graphic>
          <a:graphicData uri="http://schemas.openxmlformats.org/drawingml/2006/table">
            <a:tbl>
              <a:tblPr/>
              <a:tblGrid>
                <a:gridCol w="1280160">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gridCol w="731520">
                  <a:extLst>
                    <a:ext uri="{9D8B030D-6E8A-4147-A177-3AD203B41FA5}">
                      <a16:colId xmlns:a16="http://schemas.microsoft.com/office/drawing/2014/main" val="20005"/>
                    </a:ext>
                  </a:extLst>
                </a:gridCol>
              </a:tblGrid>
              <a:tr h="457200">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Subject</a:t>
                      </a:r>
                      <a:endParaRPr lang="en-US" sz="11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12294D"/>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Acc.</a:t>
                      </a:r>
                      <a:endParaRPr lang="en-US" sz="11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12294D"/>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Subject</a:t>
                      </a:r>
                      <a:endParaRPr lang="en-US" sz="11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12294D"/>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Acc.</a:t>
                      </a:r>
                      <a:endParaRPr lang="en-US" sz="11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12294D"/>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Subject</a:t>
                      </a:r>
                      <a:endParaRPr lang="en-US" sz="11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12294D"/>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Acc.</a:t>
                      </a:r>
                      <a:endParaRPr lang="en-US" sz="11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12294D"/>
                    </a:solidFill>
                  </a:tcPr>
                </a:tc>
                <a:extLst>
                  <a:ext uri="{0D108BD9-81ED-4DB2-BD59-A6C34878D82A}">
                    <a16:rowId xmlns:a16="http://schemas.microsoft.com/office/drawing/2014/main" val="10000"/>
                  </a:ext>
                </a:extLst>
              </a:tr>
              <a:tr h="457200">
                <a:tc>
                  <a:txBody>
                    <a:bodyPr/>
                    <a:lstStyle/>
                    <a:p>
                      <a:pPr marL="0" indent="0" algn="l">
                        <a:buNone/>
                      </a:pPr>
                      <a:r>
                        <a:rPr lang="en-US" sz="1150" dirty="0">
                          <a:solidFill>
                            <a:srgbClr val="1B2A3A"/>
                          </a:solidFill>
                          <a:latin typeface="Calibri" pitchFamily="34" charset="0"/>
                          <a:ea typeface="Calibri" pitchFamily="34" charset="-122"/>
                          <a:cs typeface="Calibri" pitchFamily="34" charset="-120"/>
                        </a:rPr>
                        <a:t>A01T</a:t>
                      </a:r>
                      <a:endParaRPr lang="en-US" sz="11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B2A3A"/>
                          </a:solidFill>
                          <a:latin typeface="Calibri" pitchFamily="34" charset="0"/>
                          <a:ea typeface="Calibri" pitchFamily="34" charset="-122"/>
                          <a:cs typeface="Calibri" pitchFamily="34" charset="-120"/>
                        </a:rPr>
                        <a:t>38.5%</a:t>
                      </a:r>
                      <a:endParaRPr lang="en-US" sz="11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B2A3A"/>
                          </a:solidFill>
                          <a:latin typeface="Calibri" pitchFamily="34" charset="0"/>
                          <a:ea typeface="Calibri" pitchFamily="34" charset="-122"/>
                          <a:cs typeface="Calibri" pitchFamily="34" charset="-120"/>
                        </a:rPr>
                        <a:t>A04T</a:t>
                      </a:r>
                      <a:endParaRPr lang="en-US" sz="11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B2A3A"/>
                          </a:solidFill>
                          <a:latin typeface="Calibri" pitchFamily="34" charset="0"/>
                          <a:ea typeface="Calibri" pitchFamily="34" charset="-122"/>
                          <a:cs typeface="Calibri" pitchFamily="34" charset="-120"/>
                        </a:rPr>
                        <a:t>25.0%</a:t>
                      </a:r>
                      <a:endParaRPr lang="en-US" sz="11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B2A3A"/>
                          </a:solidFill>
                          <a:latin typeface="Calibri" pitchFamily="34" charset="0"/>
                          <a:ea typeface="Calibri" pitchFamily="34" charset="-122"/>
                          <a:cs typeface="Calibri" pitchFamily="34" charset="-120"/>
                        </a:rPr>
                        <a:t>A07T</a:t>
                      </a:r>
                      <a:endParaRPr lang="en-US" sz="11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B2A3A"/>
                          </a:solidFill>
                          <a:latin typeface="Calibri" pitchFamily="34" charset="0"/>
                          <a:ea typeface="Calibri" pitchFamily="34" charset="-122"/>
                          <a:cs typeface="Calibri" pitchFamily="34" charset="-120"/>
                        </a:rPr>
                        <a:t>31.6%</a:t>
                      </a:r>
                      <a:endParaRPr lang="en-US" sz="11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l">
                        <a:buNone/>
                      </a:pPr>
                      <a:r>
                        <a:rPr lang="en-US" sz="1150" dirty="0">
                          <a:solidFill>
                            <a:srgbClr val="1B2A3A"/>
                          </a:solidFill>
                          <a:latin typeface="Calibri" pitchFamily="34" charset="0"/>
                          <a:ea typeface="Calibri" pitchFamily="34" charset="-122"/>
                          <a:cs typeface="Calibri" pitchFamily="34" charset="-120"/>
                        </a:rPr>
                        <a:t>A02T</a:t>
                      </a:r>
                      <a:endParaRPr lang="en-US" sz="11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2F5F7"/>
                    </a:solidFill>
                  </a:tcPr>
                </a:tc>
                <a:tc>
                  <a:txBody>
                    <a:bodyPr/>
                    <a:lstStyle/>
                    <a:p>
                      <a:pPr marL="0" indent="0" algn="ctr">
                        <a:buNone/>
                      </a:pPr>
                      <a:r>
                        <a:rPr lang="en-US" sz="1150" dirty="0">
                          <a:solidFill>
                            <a:srgbClr val="1B2A3A"/>
                          </a:solidFill>
                          <a:latin typeface="Calibri" pitchFamily="34" charset="0"/>
                          <a:ea typeface="Calibri" pitchFamily="34" charset="-122"/>
                          <a:cs typeface="Calibri" pitchFamily="34" charset="-120"/>
                        </a:rPr>
                        <a:t>24.7%</a:t>
                      </a:r>
                      <a:endParaRPr lang="en-US" sz="11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2F5F7"/>
                    </a:solidFill>
                  </a:tcPr>
                </a:tc>
                <a:tc>
                  <a:txBody>
                    <a:bodyPr/>
                    <a:lstStyle/>
                    <a:p>
                      <a:pPr marL="0" indent="0" algn="ctr">
                        <a:buNone/>
                      </a:pPr>
                      <a:r>
                        <a:rPr lang="en-US" sz="1150" dirty="0">
                          <a:solidFill>
                            <a:srgbClr val="1B2A3A"/>
                          </a:solidFill>
                          <a:latin typeface="Calibri" pitchFamily="34" charset="0"/>
                          <a:ea typeface="Calibri" pitchFamily="34" charset="-122"/>
                          <a:cs typeface="Calibri" pitchFamily="34" charset="-120"/>
                        </a:rPr>
                        <a:t>A05T</a:t>
                      </a:r>
                      <a:endParaRPr lang="en-US" sz="11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2F5F7"/>
                    </a:solidFill>
                  </a:tcPr>
                </a:tc>
                <a:tc>
                  <a:txBody>
                    <a:bodyPr/>
                    <a:lstStyle/>
                    <a:p>
                      <a:pPr marL="0" indent="0" algn="ctr">
                        <a:buNone/>
                      </a:pPr>
                      <a:r>
                        <a:rPr lang="en-US" sz="1150" dirty="0">
                          <a:solidFill>
                            <a:srgbClr val="1B2A3A"/>
                          </a:solidFill>
                          <a:latin typeface="Calibri" pitchFamily="34" charset="0"/>
                          <a:ea typeface="Calibri" pitchFamily="34" charset="-122"/>
                          <a:cs typeface="Calibri" pitchFamily="34" charset="-120"/>
                        </a:rPr>
                        <a:t>24.0%</a:t>
                      </a:r>
                      <a:endParaRPr lang="en-US" sz="11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2F5F7"/>
                    </a:solidFill>
                  </a:tcPr>
                </a:tc>
                <a:tc>
                  <a:txBody>
                    <a:bodyPr/>
                    <a:lstStyle/>
                    <a:p>
                      <a:pPr marL="0" indent="0" algn="ctr">
                        <a:buNone/>
                      </a:pPr>
                      <a:r>
                        <a:rPr lang="en-US" sz="1150" dirty="0">
                          <a:solidFill>
                            <a:srgbClr val="1B2A3A"/>
                          </a:solidFill>
                          <a:latin typeface="Calibri" pitchFamily="34" charset="0"/>
                          <a:ea typeface="Calibri" pitchFamily="34" charset="-122"/>
                          <a:cs typeface="Calibri" pitchFamily="34" charset="-120"/>
                        </a:rPr>
                        <a:t>A08T</a:t>
                      </a:r>
                      <a:endParaRPr lang="en-US" sz="11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2F5F7"/>
                    </a:solidFill>
                  </a:tcPr>
                </a:tc>
                <a:tc>
                  <a:txBody>
                    <a:bodyPr/>
                    <a:lstStyle/>
                    <a:p>
                      <a:pPr marL="0" indent="0" algn="ctr">
                        <a:buNone/>
                      </a:pPr>
                      <a:r>
                        <a:rPr lang="en-US" sz="1150" dirty="0">
                          <a:solidFill>
                            <a:srgbClr val="1B2A3A"/>
                          </a:solidFill>
                          <a:latin typeface="Calibri" pitchFamily="34" charset="0"/>
                          <a:ea typeface="Calibri" pitchFamily="34" charset="-122"/>
                          <a:cs typeface="Calibri" pitchFamily="34" charset="-120"/>
                        </a:rPr>
                        <a:t>37.8%</a:t>
                      </a:r>
                      <a:endParaRPr lang="en-US" sz="11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2F5F7"/>
                    </a:solidFill>
                  </a:tcPr>
                </a:tc>
                <a:extLst>
                  <a:ext uri="{0D108BD9-81ED-4DB2-BD59-A6C34878D82A}">
                    <a16:rowId xmlns:a16="http://schemas.microsoft.com/office/drawing/2014/main" val="10002"/>
                  </a:ext>
                </a:extLst>
              </a:tr>
              <a:tr h="457200">
                <a:tc>
                  <a:txBody>
                    <a:bodyPr/>
                    <a:lstStyle/>
                    <a:p>
                      <a:pPr marL="0" indent="0" algn="l">
                        <a:buNone/>
                      </a:pPr>
                      <a:r>
                        <a:rPr lang="en-US" sz="1150" dirty="0">
                          <a:solidFill>
                            <a:srgbClr val="1B2A3A"/>
                          </a:solidFill>
                          <a:latin typeface="Calibri" pitchFamily="34" charset="0"/>
                          <a:ea typeface="Calibri" pitchFamily="34" charset="-122"/>
                          <a:cs typeface="Calibri" pitchFamily="34" charset="-120"/>
                        </a:rPr>
                        <a:t>A03T</a:t>
                      </a:r>
                      <a:endParaRPr lang="en-US" sz="11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B2A3A"/>
                          </a:solidFill>
                          <a:latin typeface="Calibri" pitchFamily="34" charset="0"/>
                          <a:ea typeface="Calibri" pitchFamily="34" charset="-122"/>
                          <a:cs typeface="Calibri" pitchFamily="34" charset="-120"/>
                        </a:rPr>
                        <a:t>38.9%</a:t>
                      </a:r>
                      <a:endParaRPr lang="en-US" sz="11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B2A3A"/>
                          </a:solidFill>
                          <a:latin typeface="Calibri" pitchFamily="34" charset="0"/>
                          <a:ea typeface="Calibri" pitchFamily="34" charset="-122"/>
                          <a:cs typeface="Calibri" pitchFamily="34" charset="-120"/>
                        </a:rPr>
                        <a:t>A06T</a:t>
                      </a:r>
                      <a:endParaRPr lang="en-US" sz="11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B2A3A"/>
                          </a:solidFill>
                          <a:latin typeface="Calibri" pitchFamily="34" charset="0"/>
                          <a:ea typeface="Calibri" pitchFamily="34" charset="-122"/>
                          <a:cs typeface="Calibri" pitchFamily="34" charset="-120"/>
                        </a:rPr>
                        <a:t>23.3%</a:t>
                      </a:r>
                      <a:endParaRPr lang="en-US" sz="11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B2A3A"/>
                          </a:solidFill>
                          <a:latin typeface="Calibri" pitchFamily="34" charset="0"/>
                          <a:ea typeface="Calibri" pitchFamily="34" charset="-122"/>
                          <a:cs typeface="Calibri" pitchFamily="34" charset="-120"/>
                        </a:rPr>
                        <a:t>A09T</a:t>
                      </a:r>
                      <a:endParaRPr lang="en-US" sz="11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B2A3A"/>
                          </a:solidFill>
                          <a:latin typeface="Calibri" pitchFamily="34" charset="0"/>
                          <a:ea typeface="Calibri" pitchFamily="34" charset="-122"/>
                          <a:cs typeface="Calibri" pitchFamily="34" charset="-120"/>
                        </a:rPr>
                        <a:t>38.9%</a:t>
                      </a:r>
                      <a:endParaRPr lang="en-US" sz="11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7" name="Text 4"/>
          <p:cNvSpPr/>
          <p:nvPr/>
        </p:nvSpPr>
        <p:spPr>
          <a:xfrm>
            <a:off x="548640" y="4160520"/>
            <a:ext cx="6035040" cy="640080"/>
          </a:xfrm>
          <a:prstGeom prst="rect">
            <a:avLst/>
          </a:prstGeom>
          <a:noFill/>
          <a:ln/>
        </p:spPr>
        <p:txBody>
          <a:bodyPr wrap="square" lIns="0" tIns="0" rIns="0" bIns="0" rtlCol="0" anchor="ctr"/>
          <a:lstStyle/>
          <a:p>
            <a:pPr marL="0" indent="0">
              <a:buNone/>
            </a:pPr>
            <a:r>
              <a:rPr lang="en-US" sz="1150" i="1" dirty="0">
                <a:solidFill>
                  <a:srgbClr val="5A6B7B"/>
                </a:solidFill>
                <a:latin typeface="Calibri" pitchFamily="34" charset="0"/>
                <a:ea typeface="Calibri" pitchFamily="34" charset="-122"/>
                <a:cs typeface="Calibri" pitchFamily="34" charset="-120"/>
              </a:rPr>
              <a:t>A04T is no longer the outlier — it now sits in the middle of the pack, right where a chance-level subject should.</a:t>
            </a:r>
            <a:endParaRPr lang="en-US" sz="1150" dirty="0"/>
          </a:p>
        </p:txBody>
      </p:sp>
      <p:sp>
        <p:nvSpPr>
          <p:cNvPr id="6" name="Text 5"/>
          <p:cNvSpPr/>
          <p:nvPr/>
        </p:nvSpPr>
        <p:spPr>
          <a:xfrm>
            <a:off x="6903720" y="1463040"/>
            <a:ext cx="4754880" cy="274320"/>
          </a:xfrm>
          <a:prstGeom prst="rect">
            <a:avLst/>
          </a:prstGeom>
          <a:noFill/>
          <a:ln/>
        </p:spPr>
        <p:txBody>
          <a:bodyPr wrap="square" lIns="0" tIns="0" rIns="0" bIns="0" rtlCol="0" anchor="ctr"/>
          <a:lstStyle/>
          <a:p>
            <a:pPr marL="0" indent="0">
              <a:buNone/>
            </a:pPr>
            <a:r>
              <a:rPr lang="en-US" sz="1150" b="1" kern="0" spc="150" dirty="0">
                <a:solidFill>
                  <a:srgbClr val="1C7293"/>
                </a:solidFill>
                <a:latin typeface="Calibri" pitchFamily="34" charset="0"/>
                <a:ea typeface="Calibri" pitchFamily="34" charset="-122"/>
                <a:cs typeface="Calibri" pitchFamily="34" charset="-120"/>
              </a:rPr>
              <a:t>CSP COMPONENTS SWEEP (LOSO)</a:t>
            </a:r>
            <a:endParaRPr lang="en-US" sz="1150" dirty="0"/>
          </a:p>
        </p:txBody>
      </p:sp>
      <p:graphicFrame>
        <p:nvGraphicFramePr>
          <p:cNvPr id="9" name="Chart 0"/>
          <p:cNvGraphicFramePr/>
          <p:nvPr/>
        </p:nvGraphicFramePr>
        <p:xfrm>
          <a:off x="6903720" y="1783080"/>
          <a:ext cx="475488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10" name="Shape 6"/>
          <p:cNvSpPr/>
          <p:nvPr/>
        </p:nvSpPr>
        <p:spPr>
          <a:xfrm>
            <a:off x="6903720" y="4709160"/>
            <a:ext cx="4754880" cy="1417320"/>
          </a:xfrm>
          <a:prstGeom prst="roundRect">
            <a:avLst>
              <a:gd name="adj" fmla="val 5161"/>
            </a:avLst>
          </a:prstGeom>
          <a:solidFill>
            <a:srgbClr val="F2F5F7"/>
          </a:solidFill>
          <a:ln/>
        </p:spPr>
      </p:sp>
      <p:sp>
        <p:nvSpPr>
          <p:cNvPr id="11" name="Text 7"/>
          <p:cNvSpPr/>
          <p:nvPr/>
        </p:nvSpPr>
        <p:spPr>
          <a:xfrm>
            <a:off x="7132320" y="4782312"/>
            <a:ext cx="4297680" cy="1271016"/>
          </a:xfrm>
          <a:prstGeom prst="rect">
            <a:avLst/>
          </a:prstGeom>
          <a:noFill/>
          <a:ln/>
        </p:spPr>
        <p:txBody>
          <a:bodyPr wrap="square" lIns="0" tIns="0" rIns="0" bIns="0" rtlCol="0" anchor="ctr"/>
          <a:lstStyle/>
          <a:p>
            <a:pPr marL="0" indent="0">
              <a:buNone/>
            </a:pPr>
            <a:r>
              <a:rPr lang="en-US" sz="1150" dirty="0">
                <a:solidFill>
                  <a:srgbClr val="1B2A3A"/>
                </a:solidFill>
                <a:latin typeface="Calibri" pitchFamily="34" charset="0"/>
                <a:ea typeface="Calibri" pitchFamily="34" charset="-122"/>
                <a:cs typeface="Calibri" pitchFamily="34" charset="-120"/>
              </a:rPr>
              <a:t>Unlike single-subject, more CSP components don't help past 6 — the cross-subject bottleneck isn't feature count.</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01168"/>
            <a:ext cx="9144000"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RESULTS — ABLATION</a:t>
            </a:r>
            <a:endParaRPr lang="en-US" sz="1200" dirty="0"/>
          </a:p>
        </p:txBody>
      </p:sp>
      <p:sp>
        <p:nvSpPr>
          <p:cNvPr id="3" name="Text 1"/>
          <p:cNvSpPr/>
          <p:nvPr/>
        </p:nvSpPr>
        <p:spPr>
          <a:xfrm>
            <a:off x="548640" y="411480"/>
            <a:ext cx="11064240" cy="822960"/>
          </a:xfrm>
          <a:prstGeom prst="rect">
            <a:avLst/>
          </a:prstGeom>
          <a:noFill/>
          <a:ln/>
        </p:spPr>
        <p:txBody>
          <a:bodyPr wrap="square" lIns="0" tIns="0" rIns="0" bIns="0" rtlCol="0" anchor="ctr"/>
          <a:lstStyle/>
          <a:p>
            <a:pPr marL="0" indent="0" algn="l">
              <a:buNone/>
            </a:pPr>
            <a:r>
              <a:rPr lang="en-US" sz="3000" b="1" dirty="0">
                <a:solidFill>
                  <a:srgbClr val="12294D"/>
                </a:solidFill>
                <a:latin typeface="Cambria" pitchFamily="34" charset="0"/>
                <a:ea typeface="Cambria" pitchFamily="34" charset="-122"/>
                <a:cs typeface="Cambria" pitchFamily="34" charset="-120"/>
              </a:rPr>
              <a:t>Optimization Sweep: What Actually Helps</a:t>
            </a:r>
            <a:endParaRPr lang="en-US" sz="3000" dirty="0"/>
          </a:p>
        </p:txBody>
      </p:sp>
      <p:sp>
        <p:nvSpPr>
          <p:cNvPr id="4" name="Text 2"/>
          <p:cNvSpPr/>
          <p:nvPr/>
        </p:nvSpPr>
        <p:spPr>
          <a:xfrm>
            <a:off x="11365992" y="6400800"/>
            <a:ext cx="548640" cy="274320"/>
          </a:xfrm>
          <a:prstGeom prst="rect">
            <a:avLst/>
          </a:prstGeom>
          <a:noFill/>
          <a:ln/>
        </p:spPr>
        <p:txBody>
          <a:bodyPr wrap="square" lIns="0" tIns="0" rIns="0" bIns="0" rtlCol="0" anchor="ctr"/>
          <a:lstStyle/>
          <a:p>
            <a:pPr marL="0" indent="0" algn="r">
              <a:buNone/>
            </a:pPr>
            <a:r>
              <a:rPr lang="en-US" sz="1000" dirty="0">
                <a:solidFill>
                  <a:srgbClr val="A9B4BE"/>
                </a:solidFill>
                <a:latin typeface="Calibri" pitchFamily="34" charset="0"/>
                <a:ea typeface="Calibri" pitchFamily="34" charset="-122"/>
                <a:cs typeface="Calibri" pitchFamily="34" charset="-120"/>
              </a:rPr>
              <a:t>08</a:t>
            </a:r>
            <a:endParaRPr lang="en-US" sz="1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1672" cy="2743200"/>
        </p:xfrm>
        <a:graphic>
          <a:graphicData uri="http://schemas.openxmlformats.org/drawingml/2006/table">
            <a:tbl>
              <a:tblPr/>
              <a:tblGrid>
                <a:gridCol w="4023360">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313432">
                  <a:extLst>
                    <a:ext uri="{9D8B030D-6E8A-4147-A177-3AD203B41FA5}">
                      <a16:colId xmlns:a16="http://schemas.microsoft.com/office/drawing/2014/main" val="20003"/>
                    </a:ext>
                  </a:extLst>
                </a:gridCol>
              </a:tblGrid>
              <a:tr h="457200">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Factor Tested</a:t>
                      </a:r>
                      <a:endParaRPr lang="en-US" sz="11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12294D"/>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Best Setting</a:t>
                      </a:r>
                      <a:endParaRPr lang="en-US" sz="11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12294D"/>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Best Accuracy</a:t>
                      </a:r>
                      <a:endParaRPr lang="en-US" sz="11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12294D"/>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Effect Size</a:t>
                      </a:r>
                      <a:endParaRPr lang="en-US" sz="11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12294D"/>
                    </a:solidFill>
                  </a:tcPr>
                </a:tc>
                <a:extLst>
                  <a:ext uri="{0D108BD9-81ED-4DB2-BD59-A6C34878D82A}">
                    <a16:rowId xmlns:a16="http://schemas.microsoft.com/office/drawing/2014/main" val="10000"/>
                  </a:ext>
                </a:extLst>
              </a:tr>
              <a:tr h="457200">
                <a:tc>
                  <a:txBody>
                    <a:bodyPr/>
                    <a:lstStyle/>
                    <a:p>
                      <a:pPr marL="0" indent="0" algn="l">
                        <a:buNone/>
                      </a:pPr>
                      <a:r>
                        <a:rPr lang="en-US" sz="1150" dirty="0">
                          <a:solidFill>
                            <a:srgbClr val="1B2A3A"/>
                          </a:solidFill>
                          <a:latin typeface="Calibri" pitchFamily="34" charset="0"/>
                          <a:ea typeface="Calibri" pitchFamily="34" charset="-122"/>
                          <a:cs typeface="Calibri" pitchFamily="34" charset="-120"/>
                        </a:rPr>
                        <a:t>CSP components (4/6/8/12/16)</a:t>
                      </a:r>
                      <a:endParaRPr lang="en-US" sz="11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B2A3A"/>
                          </a:solidFill>
                          <a:latin typeface="Calibri" pitchFamily="34" charset="0"/>
                          <a:ea typeface="Calibri" pitchFamily="34" charset="-122"/>
                          <a:cs typeface="Calibri" pitchFamily="34" charset="-120"/>
                        </a:rPr>
                        <a:t>6</a:t>
                      </a:r>
                      <a:endParaRPr lang="en-US" sz="11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B2A3A"/>
                          </a:solidFill>
                          <a:latin typeface="Calibri" pitchFamily="34" charset="0"/>
                          <a:ea typeface="Calibri" pitchFamily="34" charset="-122"/>
                          <a:cs typeface="Calibri" pitchFamily="34" charset="-120"/>
                        </a:rPr>
                        <a:t>32.29%</a:t>
                      </a:r>
                      <a:endParaRPr lang="en-US" sz="11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B2A3A"/>
                          </a:solidFill>
                          <a:latin typeface="Calibri" pitchFamily="34" charset="0"/>
                          <a:ea typeface="Calibri" pitchFamily="34" charset="-122"/>
                          <a:cs typeface="Calibri" pitchFamily="34" charset="-120"/>
                        </a:rPr>
                        <a:t>small</a:t>
                      </a:r>
                      <a:endParaRPr lang="en-US" sz="11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l">
                        <a:buNone/>
                      </a:pPr>
                      <a:r>
                        <a:rPr lang="en-US" sz="1150" dirty="0">
                          <a:solidFill>
                            <a:srgbClr val="1B2A3A"/>
                          </a:solidFill>
                          <a:latin typeface="Calibri" pitchFamily="34" charset="0"/>
                          <a:ea typeface="Calibri" pitchFamily="34" charset="-122"/>
                          <a:cs typeface="Calibri" pitchFamily="34" charset="-120"/>
                        </a:rPr>
                        <a:t>Classifier (LDA / linear / RBF SVM)</a:t>
                      </a:r>
                      <a:endParaRPr lang="en-US" sz="11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2F5F7"/>
                    </a:solidFill>
                  </a:tcPr>
                </a:tc>
                <a:tc>
                  <a:txBody>
                    <a:bodyPr/>
                    <a:lstStyle/>
                    <a:p>
                      <a:pPr marL="0" indent="0" algn="ctr">
                        <a:buNone/>
                      </a:pPr>
                      <a:r>
                        <a:rPr lang="en-US" sz="1150" dirty="0">
                          <a:solidFill>
                            <a:srgbClr val="1B2A3A"/>
                          </a:solidFill>
                          <a:latin typeface="Calibri" pitchFamily="34" charset="0"/>
                          <a:ea typeface="Calibri" pitchFamily="34" charset="-122"/>
                          <a:cs typeface="Calibri" pitchFamily="34" charset="-120"/>
                        </a:rPr>
                        <a:t>LDA</a:t>
                      </a:r>
                      <a:endParaRPr lang="en-US" sz="11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2F5F7"/>
                    </a:solidFill>
                  </a:tcPr>
                </a:tc>
                <a:tc>
                  <a:txBody>
                    <a:bodyPr/>
                    <a:lstStyle/>
                    <a:p>
                      <a:pPr marL="0" indent="0" algn="ctr">
                        <a:buNone/>
                      </a:pPr>
                      <a:r>
                        <a:rPr lang="en-US" sz="1150" dirty="0">
                          <a:solidFill>
                            <a:srgbClr val="1B2A3A"/>
                          </a:solidFill>
                          <a:latin typeface="Calibri" pitchFamily="34" charset="0"/>
                          <a:ea typeface="Calibri" pitchFamily="34" charset="-122"/>
                          <a:cs typeface="Calibri" pitchFamily="34" charset="-120"/>
                        </a:rPr>
                        <a:t>38.31%</a:t>
                      </a:r>
                      <a:endParaRPr lang="en-US" sz="11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2F5F7"/>
                    </a:solidFill>
                  </a:tcPr>
                </a:tc>
                <a:tc>
                  <a:txBody>
                    <a:bodyPr/>
                    <a:lstStyle/>
                    <a:p>
                      <a:pPr marL="0" indent="0" algn="ctr">
                        <a:buNone/>
                      </a:pPr>
                      <a:r>
                        <a:rPr lang="en-US" sz="1150" dirty="0">
                          <a:solidFill>
                            <a:srgbClr val="1B2A3A"/>
                          </a:solidFill>
                          <a:latin typeface="Calibri" pitchFamily="34" charset="0"/>
                          <a:ea typeface="Calibri" pitchFamily="34" charset="-122"/>
                          <a:cs typeface="Calibri" pitchFamily="34" charset="-120"/>
                        </a:rPr>
                        <a:t>moderate</a:t>
                      </a:r>
                      <a:endParaRPr lang="en-US" sz="11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2F5F7"/>
                    </a:solidFill>
                  </a:tcPr>
                </a:tc>
                <a:extLst>
                  <a:ext uri="{0D108BD9-81ED-4DB2-BD59-A6C34878D82A}">
                    <a16:rowId xmlns:a16="http://schemas.microsoft.com/office/drawing/2014/main" val="10002"/>
                  </a:ext>
                </a:extLst>
              </a:tr>
              <a:tr h="457200">
                <a:tc>
                  <a:txBody>
                    <a:bodyPr/>
                    <a:lstStyle/>
                    <a:p>
                      <a:pPr marL="0" indent="0" algn="l">
                        <a:buNone/>
                      </a:pPr>
                      <a:r>
                        <a:rPr lang="en-US" sz="1150" dirty="0">
                          <a:solidFill>
                            <a:srgbClr val="1B2A3A"/>
                          </a:solidFill>
                          <a:latin typeface="Calibri" pitchFamily="34" charset="0"/>
                          <a:ea typeface="Calibri" pitchFamily="34" charset="-122"/>
                          <a:cs typeface="Calibri" pitchFamily="34" charset="-120"/>
                        </a:rPr>
                        <a:t>CSP regularization (none/LW/OAS)</a:t>
                      </a:r>
                      <a:endParaRPr lang="en-US" sz="11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B2A3A"/>
                          </a:solidFill>
                          <a:latin typeface="Calibri" pitchFamily="34" charset="0"/>
                          <a:ea typeface="Calibri" pitchFamily="34" charset="-122"/>
                          <a:cs typeface="Calibri" pitchFamily="34" charset="-120"/>
                        </a:rPr>
                        <a:t>no difference</a:t>
                      </a:r>
                      <a:endParaRPr lang="en-US" sz="11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B2A3A"/>
                          </a:solidFill>
                          <a:latin typeface="Calibri" pitchFamily="34" charset="0"/>
                          <a:ea typeface="Calibri" pitchFamily="34" charset="-122"/>
                          <a:cs typeface="Calibri" pitchFamily="34" charset="-120"/>
                        </a:rPr>
                        <a:t>38.31%</a:t>
                      </a:r>
                      <a:endParaRPr lang="en-US" sz="11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B2A3A"/>
                          </a:solidFill>
                          <a:latin typeface="Calibri" pitchFamily="34" charset="0"/>
                          <a:ea typeface="Calibri" pitchFamily="34" charset="-122"/>
                          <a:cs typeface="Calibri" pitchFamily="34" charset="-120"/>
                        </a:rPr>
                        <a:t>none</a:t>
                      </a:r>
                      <a:endParaRPr lang="en-US" sz="11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lgn="l">
                        <a:buNone/>
                      </a:pPr>
                      <a:r>
                        <a:rPr lang="en-US" sz="1150" dirty="0">
                          <a:solidFill>
                            <a:srgbClr val="1B2A3A"/>
                          </a:solidFill>
                          <a:latin typeface="Calibri" pitchFamily="34" charset="0"/>
                          <a:ea typeface="Calibri" pitchFamily="34" charset="-122"/>
                          <a:cs typeface="Calibri" pitchFamily="34" charset="-120"/>
                        </a:rPr>
                        <a:t>Frequency band (4-40 Hz variants)</a:t>
                      </a:r>
                      <a:endParaRPr lang="en-US" sz="11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2F5F7"/>
                    </a:solidFill>
                  </a:tcPr>
                </a:tc>
                <a:tc>
                  <a:txBody>
                    <a:bodyPr/>
                    <a:lstStyle/>
                    <a:p>
                      <a:pPr marL="0" indent="0" algn="ctr">
                        <a:buNone/>
                      </a:pPr>
                      <a:r>
                        <a:rPr lang="en-US" sz="1150" dirty="0">
                          <a:solidFill>
                            <a:srgbClr val="1B2A3A"/>
                          </a:solidFill>
                          <a:latin typeface="Calibri" pitchFamily="34" charset="0"/>
                          <a:ea typeface="Calibri" pitchFamily="34" charset="-122"/>
                          <a:cs typeface="Calibri" pitchFamily="34" charset="-120"/>
                        </a:rPr>
                        <a:t>8-30 Hz</a:t>
                      </a:r>
                      <a:endParaRPr lang="en-US" sz="11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2F5F7"/>
                    </a:solidFill>
                  </a:tcPr>
                </a:tc>
                <a:tc>
                  <a:txBody>
                    <a:bodyPr/>
                    <a:lstStyle/>
                    <a:p>
                      <a:pPr marL="0" indent="0" algn="ctr">
                        <a:buNone/>
                      </a:pPr>
                      <a:r>
                        <a:rPr lang="en-US" sz="1150" dirty="0">
                          <a:solidFill>
                            <a:srgbClr val="1B2A3A"/>
                          </a:solidFill>
                          <a:latin typeface="Calibri" pitchFamily="34" charset="0"/>
                          <a:ea typeface="Calibri" pitchFamily="34" charset="-122"/>
                          <a:cs typeface="Calibri" pitchFamily="34" charset="-120"/>
                        </a:rPr>
                        <a:t>38.31%</a:t>
                      </a:r>
                      <a:endParaRPr lang="en-US" sz="11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2F5F7"/>
                    </a:solidFill>
                  </a:tcPr>
                </a:tc>
                <a:tc>
                  <a:txBody>
                    <a:bodyPr/>
                    <a:lstStyle/>
                    <a:p>
                      <a:pPr marL="0" indent="0" algn="ctr">
                        <a:buNone/>
                      </a:pPr>
                      <a:r>
                        <a:rPr lang="en-US" sz="1150" dirty="0">
                          <a:solidFill>
                            <a:srgbClr val="1B2A3A"/>
                          </a:solidFill>
                          <a:latin typeface="Calibri" pitchFamily="34" charset="0"/>
                          <a:ea typeface="Calibri" pitchFamily="34" charset="-122"/>
                          <a:cs typeface="Calibri" pitchFamily="34" charset="-120"/>
                        </a:rPr>
                        <a:t>small</a:t>
                      </a:r>
                      <a:endParaRPr lang="en-US" sz="11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2F5F7"/>
                    </a:solidFill>
                  </a:tcPr>
                </a:tc>
                <a:extLst>
                  <a:ext uri="{0D108BD9-81ED-4DB2-BD59-A6C34878D82A}">
                    <a16:rowId xmlns:a16="http://schemas.microsoft.com/office/drawing/2014/main" val="10004"/>
                  </a:ext>
                </a:extLst>
              </a:tr>
              <a:tr h="457200">
                <a:tc>
                  <a:txBody>
                    <a:bodyPr/>
                    <a:lstStyle/>
                    <a:p>
                      <a:pPr marL="0" indent="0" algn="l">
                        <a:buNone/>
                      </a:pPr>
                      <a:r>
                        <a:rPr lang="en-US" sz="1150" dirty="0">
                          <a:solidFill>
                            <a:srgbClr val="1B2A3A"/>
                          </a:solidFill>
                          <a:latin typeface="Calibri" pitchFamily="34" charset="0"/>
                          <a:ea typeface="Calibri" pitchFamily="34" charset="-122"/>
                          <a:cs typeface="Calibri" pitchFamily="34" charset="-120"/>
                        </a:rPr>
                        <a:t>Epoch time window (0-4s variants)</a:t>
                      </a:r>
                      <a:endParaRPr lang="en-US" sz="11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B2A3A"/>
                          </a:solidFill>
                          <a:latin typeface="Calibri" pitchFamily="34" charset="0"/>
                          <a:ea typeface="Calibri" pitchFamily="34" charset="-122"/>
                          <a:cs typeface="Calibri" pitchFamily="34" charset="-120"/>
                        </a:rPr>
                        <a:t>0-3 s</a:t>
                      </a:r>
                      <a:endParaRPr lang="en-US" sz="11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B2A3A"/>
                          </a:solidFill>
                          <a:latin typeface="Calibri" pitchFamily="34" charset="0"/>
                          <a:ea typeface="Calibri" pitchFamily="34" charset="-122"/>
                          <a:cs typeface="Calibri" pitchFamily="34" charset="-120"/>
                        </a:rPr>
                        <a:t>41.44%</a:t>
                      </a:r>
                      <a:endParaRPr lang="en-US" sz="11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B2A3A"/>
                          </a:solidFill>
                          <a:latin typeface="Calibri" pitchFamily="34" charset="0"/>
                          <a:ea typeface="Calibri" pitchFamily="34" charset="-122"/>
                          <a:cs typeface="Calibri" pitchFamily="34" charset="-120"/>
                        </a:rPr>
                        <a:t>largest</a:t>
                      </a:r>
                      <a:endParaRPr lang="en-US" sz="11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Shape 3"/>
          <p:cNvSpPr/>
          <p:nvPr/>
        </p:nvSpPr>
        <p:spPr>
          <a:xfrm>
            <a:off x="548640" y="4709160"/>
            <a:ext cx="11091672" cy="1417320"/>
          </a:xfrm>
          <a:prstGeom prst="roundRect">
            <a:avLst>
              <a:gd name="adj" fmla="val 5161"/>
            </a:avLst>
          </a:prstGeom>
          <a:solidFill>
            <a:srgbClr val="F2F5F7"/>
          </a:solidFill>
          <a:ln/>
        </p:spPr>
      </p:sp>
      <p:sp>
        <p:nvSpPr>
          <p:cNvPr id="7" name="Text 4"/>
          <p:cNvSpPr/>
          <p:nvPr/>
        </p:nvSpPr>
        <p:spPr>
          <a:xfrm>
            <a:off x="777240" y="4782312"/>
            <a:ext cx="10634472" cy="1271016"/>
          </a:xfrm>
          <a:prstGeom prst="rect">
            <a:avLst/>
          </a:prstGeom>
          <a:noFill/>
          <a:ln/>
        </p:spPr>
        <p:txBody>
          <a:bodyPr wrap="square" lIns="0" tIns="0" rIns="0" bIns="0" rtlCol="0" anchor="ctr"/>
          <a:lstStyle/>
          <a:p>
            <a:pPr marL="0" indent="0">
              <a:buNone/>
            </a:pPr>
            <a:r>
              <a:rPr lang="en-US" sz="1150" dirty="0">
                <a:solidFill>
                  <a:srgbClr val="1B2A3A"/>
                </a:solidFill>
                <a:latin typeface="Calibri" pitchFamily="34" charset="0"/>
                <a:ea typeface="Calibri" pitchFamily="34" charset="-122"/>
                <a:cs typeface="Calibri" pitchFamily="34" charset="-120"/>
              </a:rPr>
              <a:t>One clear pattern: LDA beats SVM here — the opposite of the single-subject case — because on the noisier, pooled cross-subject problem, LDA's simplicity is an advantage. And only the epoch window produced a meaningful gain; regularization and frequency-band tuning made essentially no difference. This tells us the bottleneck isn't signal-processing detail.</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01168"/>
            <a:ext cx="9144000"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RESULTS — ALTERNATIVE METHODS</a:t>
            </a:r>
            <a:endParaRPr lang="en-US" sz="1200" dirty="0"/>
          </a:p>
        </p:txBody>
      </p:sp>
      <p:sp>
        <p:nvSpPr>
          <p:cNvPr id="3" name="Text 1"/>
          <p:cNvSpPr/>
          <p:nvPr/>
        </p:nvSpPr>
        <p:spPr>
          <a:xfrm>
            <a:off x="548640" y="411480"/>
            <a:ext cx="11064240" cy="822960"/>
          </a:xfrm>
          <a:prstGeom prst="rect">
            <a:avLst/>
          </a:prstGeom>
          <a:noFill/>
          <a:ln/>
        </p:spPr>
        <p:txBody>
          <a:bodyPr wrap="square" lIns="0" tIns="0" rIns="0" bIns="0" rtlCol="0" anchor="ctr"/>
          <a:lstStyle/>
          <a:p>
            <a:pPr marL="0" indent="0" algn="l">
              <a:buNone/>
            </a:pPr>
            <a:r>
              <a:rPr lang="en-US" sz="3000" b="1" dirty="0">
                <a:solidFill>
                  <a:srgbClr val="12294D"/>
                </a:solidFill>
                <a:latin typeface="Cambria" pitchFamily="34" charset="0"/>
                <a:ea typeface="Cambria" pitchFamily="34" charset="-122"/>
                <a:cs typeface="Cambria" pitchFamily="34" charset="-120"/>
              </a:rPr>
              <a:t>Beyond CSP: Filter-Bank CSP &amp; Deep Learning</a:t>
            </a:r>
            <a:endParaRPr lang="en-US" sz="3000" dirty="0"/>
          </a:p>
        </p:txBody>
      </p:sp>
      <p:sp>
        <p:nvSpPr>
          <p:cNvPr id="4" name="Text 2"/>
          <p:cNvSpPr/>
          <p:nvPr/>
        </p:nvSpPr>
        <p:spPr>
          <a:xfrm>
            <a:off x="11365992" y="6400800"/>
            <a:ext cx="548640" cy="274320"/>
          </a:xfrm>
          <a:prstGeom prst="rect">
            <a:avLst/>
          </a:prstGeom>
          <a:noFill/>
          <a:ln/>
        </p:spPr>
        <p:txBody>
          <a:bodyPr wrap="square" lIns="0" tIns="0" rIns="0" bIns="0" rtlCol="0" anchor="ctr"/>
          <a:lstStyle/>
          <a:p>
            <a:pPr marL="0" indent="0" algn="r">
              <a:buNone/>
            </a:pPr>
            <a:r>
              <a:rPr lang="en-US" sz="1000" dirty="0">
                <a:solidFill>
                  <a:srgbClr val="A9B4BE"/>
                </a:solidFill>
                <a:latin typeface="Calibri" pitchFamily="34" charset="0"/>
                <a:ea typeface="Calibri" pitchFamily="34" charset="-122"/>
                <a:cs typeface="Calibri" pitchFamily="34" charset="-120"/>
              </a:rPr>
              <a:t>09</a:t>
            </a:r>
            <a:endParaRPr lang="en-US" sz="1000" dirty="0"/>
          </a:p>
        </p:txBody>
      </p:sp>
      <p:sp>
        <p:nvSpPr>
          <p:cNvPr id="5" name="Shape 3"/>
          <p:cNvSpPr/>
          <p:nvPr/>
        </p:nvSpPr>
        <p:spPr>
          <a:xfrm>
            <a:off x="548640" y="1737360"/>
            <a:ext cx="2651760" cy="2834640"/>
          </a:xfrm>
          <a:prstGeom prst="roundRect">
            <a:avLst>
              <a:gd name="adj" fmla="val 3448"/>
            </a:avLst>
          </a:prstGeom>
          <a:solidFill>
            <a:srgbClr val="F2F5F7"/>
          </a:solidFill>
          <a:ln/>
        </p:spPr>
      </p:sp>
      <p:sp>
        <p:nvSpPr>
          <p:cNvPr id="6" name="Text 4"/>
          <p:cNvSpPr/>
          <p:nvPr/>
        </p:nvSpPr>
        <p:spPr>
          <a:xfrm>
            <a:off x="731520" y="1965960"/>
            <a:ext cx="2286000" cy="640080"/>
          </a:xfrm>
          <a:prstGeom prst="rect">
            <a:avLst/>
          </a:prstGeom>
          <a:noFill/>
          <a:ln/>
        </p:spPr>
        <p:txBody>
          <a:bodyPr wrap="square" lIns="0" tIns="0" rIns="0" bIns="0" rtlCol="0" anchor="ctr"/>
          <a:lstStyle/>
          <a:p>
            <a:pPr marL="0" indent="0">
              <a:buNone/>
            </a:pPr>
            <a:r>
              <a:rPr lang="en-US" sz="1300" b="1" dirty="0">
                <a:solidFill>
                  <a:srgbClr val="12294D"/>
                </a:solidFill>
                <a:latin typeface="Calibri" pitchFamily="34" charset="0"/>
                <a:ea typeface="Calibri" pitchFamily="34" charset="-122"/>
                <a:cs typeface="Calibri" pitchFamily="34" charset="-120"/>
              </a:rPr>
              <a:t>CSP + LDA</a:t>
            </a:r>
            <a:endParaRPr lang="en-US" sz="1300" dirty="0"/>
          </a:p>
        </p:txBody>
      </p:sp>
      <p:sp>
        <p:nvSpPr>
          <p:cNvPr id="7" name="Text 5"/>
          <p:cNvSpPr/>
          <p:nvPr/>
        </p:nvSpPr>
        <p:spPr>
          <a:xfrm>
            <a:off x="685800" y="2743200"/>
            <a:ext cx="2377440" cy="822960"/>
          </a:xfrm>
          <a:prstGeom prst="rect">
            <a:avLst/>
          </a:prstGeom>
          <a:noFill/>
          <a:ln/>
        </p:spPr>
        <p:txBody>
          <a:bodyPr wrap="square" lIns="0" tIns="0" rIns="0" bIns="0" rtlCol="0" anchor="ctr"/>
          <a:lstStyle/>
          <a:p>
            <a:pPr marL="0" indent="0" algn="ctr">
              <a:buNone/>
            </a:pPr>
            <a:r>
              <a:rPr lang="en-US" sz="3000" b="1" dirty="0">
                <a:solidFill>
                  <a:srgbClr val="1C7293"/>
                </a:solidFill>
                <a:latin typeface="Cambria" pitchFamily="34" charset="0"/>
                <a:ea typeface="Cambria" pitchFamily="34" charset="-122"/>
                <a:cs typeface="Cambria" pitchFamily="34" charset="-120"/>
              </a:rPr>
              <a:t>38.31%</a:t>
            </a:r>
            <a:endParaRPr lang="en-US" sz="3000" dirty="0"/>
          </a:p>
        </p:txBody>
      </p:sp>
      <p:sp>
        <p:nvSpPr>
          <p:cNvPr id="8" name="Text 6"/>
          <p:cNvSpPr/>
          <p:nvPr/>
        </p:nvSpPr>
        <p:spPr>
          <a:xfrm>
            <a:off x="731520" y="3703320"/>
            <a:ext cx="2286000" cy="777240"/>
          </a:xfrm>
          <a:prstGeom prst="rect">
            <a:avLst/>
          </a:prstGeom>
          <a:noFill/>
          <a:ln/>
        </p:spPr>
        <p:txBody>
          <a:bodyPr wrap="square" lIns="0" tIns="0" rIns="0" bIns="0" rtlCol="0" anchor="ctr"/>
          <a:lstStyle/>
          <a:p>
            <a:pPr marL="0" indent="0">
              <a:buNone/>
            </a:pPr>
            <a:r>
              <a:rPr lang="en-US" sz="1050" dirty="0">
                <a:solidFill>
                  <a:srgbClr val="5A6B7B"/>
                </a:solidFill>
                <a:latin typeface="Calibri" pitchFamily="34" charset="0"/>
                <a:ea typeface="Calibri" pitchFamily="34" charset="-122"/>
                <a:cs typeface="Calibri" pitchFamily="34" charset="-120"/>
              </a:rPr>
              <a:t>baseline classical method</a:t>
            </a:r>
            <a:endParaRPr lang="en-US" sz="1050" dirty="0"/>
          </a:p>
        </p:txBody>
      </p:sp>
      <p:sp>
        <p:nvSpPr>
          <p:cNvPr id="9" name="Shape 7"/>
          <p:cNvSpPr/>
          <p:nvPr/>
        </p:nvSpPr>
        <p:spPr>
          <a:xfrm>
            <a:off x="3383280" y="1737360"/>
            <a:ext cx="2651760" cy="2834640"/>
          </a:xfrm>
          <a:prstGeom prst="roundRect">
            <a:avLst>
              <a:gd name="adj" fmla="val 3448"/>
            </a:avLst>
          </a:prstGeom>
          <a:solidFill>
            <a:srgbClr val="12294D"/>
          </a:solidFill>
          <a:ln/>
        </p:spPr>
      </p:sp>
      <p:sp>
        <p:nvSpPr>
          <p:cNvPr id="10" name="Text 8"/>
          <p:cNvSpPr/>
          <p:nvPr/>
        </p:nvSpPr>
        <p:spPr>
          <a:xfrm>
            <a:off x="3566160" y="1965960"/>
            <a:ext cx="2286000" cy="64008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CSP + 0-3s window + LDA</a:t>
            </a:r>
            <a:endParaRPr lang="en-US" sz="1300" dirty="0"/>
          </a:p>
        </p:txBody>
      </p:sp>
      <p:sp>
        <p:nvSpPr>
          <p:cNvPr id="11" name="Text 9"/>
          <p:cNvSpPr/>
          <p:nvPr/>
        </p:nvSpPr>
        <p:spPr>
          <a:xfrm>
            <a:off x="3520440" y="2743200"/>
            <a:ext cx="2377440" cy="822960"/>
          </a:xfrm>
          <a:prstGeom prst="rect">
            <a:avLst/>
          </a:prstGeom>
          <a:noFill/>
          <a:ln/>
        </p:spPr>
        <p:txBody>
          <a:bodyPr wrap="square" lIns="0" tIns="0" rIns="0" bIns="0" rtlCol="0" anchor="ctr"/>
          <a:lstStyle/>
          <a:p>
            <a:pPr marL="0" indent="0" algn="ctr">
              <a:buNone/>
            </a:pPr>
            <a:r>
              <a:rPr lang="en-US" sz="3000" b="1" dirty="0">
                <a:solidFill>
                  <a:srgbClr val="2EC4B6"/>
                </a:solidFill>
                <a:latin typeface="Cambria" pitchFamily="34" charset="0"/>
                <a:ea typeface="Cambria" pitchFamily="34" charset="-122"/>
                <a:cs typeface="Cambria" pitchFamily="34" charset="-120"/>
              </a:rPr>
              <a:t>41.44%</a:t>
            </a:r>
            <a:endParaRPr lang="en-US" sz="3000" dirty="0"/>
          </a:p>
        </p:txBody>
      </p:sp>
      <p:sp>
        <p:nvSpPr>
          <p:cNvPr id="12" name="Text 10"/>
          <p:cNvSpPr/>
          <p:nvPr/>
        </p:nvSpPr>
        <p:spPr>
          <a:xfrm>
            <a:off x="3566160" y="3703320"/>
            <a:ext cx="2286000" cy="777240"/>
          </a:xfrm>
          <a:prstGeom prst="rect">
            <a:avLst/>
          </a:prstGeom>
          <a:noFill/>
          <a:ln/>
        </p:spPr>
        <p:txBody>
          <a:bodyPr wrap="square" lIns="0" tIns="0" rIns="0" bIns="0" rtlCol="0" anchor="ctr"/>
          <a:lstStyle/>
          <a:p>
            <a:pPr marL="0" indent="0">
              <a:buNone/>
            </a:pPr>
            <a:r>
              <a:rPr lang="en-US" sz="1050" dirty="0">
                <a:solidFill>
                  <a:srgbClr val="C9D6E3"/>
                </a:solidFill>
                <a:latin typeface="Calibri" pitchFamily="34" charset="0"/>
                <a:ea typeface="Calibri" pitchFamily="34" charset="-122"/>
                <a:cs typeface="Calibri" pitchFamily="34" charset="-120"/>
              </a:rPr>
              <a:t>best classical result found</a:t>
            </a:r>
            <a:endParaRPr lang="en-US" sz="1050" dirty="0"/>
          </a:p>
        </p:txBody>
      </p:sp>
      <p:sp>
        <p:nvSpPr>
          <p:cNvPr id="13" name="Shape 11"/>
          <p:cNvSpPr/>
          <p:nvPr/>
        </p:nvSpPr>
        <p:spPr>
          <a:xfrm>
            <a:off x="6217920" y="1737360"/>
            <a:ext cx="2651760" cy="2834640"/>
          </a:xfrm>
          <a:prstGeom prst="roundRect">
            <a:avLst>
              <a:gd name="adj" fmla="val 3448"/>
            </a:avLst>
          </a:prstGeom>
          <a:solidFill>
            <a:srgbClr val="F2F5F7"/>
          </a:solidFill>
          <a:ln/>
        </p:spPr>
      </p:sp>
      <p:sp>
        <p:nvSpPr>
          <p:cNvPr id="14" name="Text 12"/>
          <p:cNvSpPr/>
          <p:nvPr/>
        </p:nvSpPr>
        <p:spPr>
          <a:xfrm>
            <a:off x="6400800" y="1965960"/>
            <a:ext cx="2286000" cy="640080"/>
          </a:xfrm>
          <a:prstGeom prst="rect">
            <a:avLst/>
          </a:prstGeom>
          <a:noFill/>
          <a:ln/>
        </p:spPr>
        <p:txBody>
          <a:bodyPr wrap="square" lIns="0" tIns="0" rIns="0" bIns="0" rtlCol="0" anchor="ctr"/>
          <a:lstStyle/>
          <a:p>
            <a:pPr marL="0" indent="0">
              <a:buNone/>
            </a:pPr>
            <a:r>
              <a:rPr lang="en-US" sz="1300" b="1" dirty="0">
                <a:solidFill>
                  <a:srgbClr val="12294D"/>
                </a:solidFill>
                <a:latin typeface="Calibri" pitchFamily="34" charset="0"/>
                <a:ea typeface="Calibri" pitchFamily="34" charset="-122"/>
                <a:cs typeface="Calibri" pitchFamily="34" charset="-120"/>
              </a:rPr>
              <a:t>FBCSP + LDA</a:t>
            </a:r>
            <a:endParaRPr lang="en-US" sz="1300" dirty="0"/>
          </a:p>
        </p:txBody>
      </p:sp>
      <p:sp>
        <p:nvSpPr>
          <p:cNvPr id="15" name="Text 13"/>
          <p:cNvSpPr/>
          <p:nvPr/>
        </p:nvSpPr>
        <p:spPr>
          <a:xfrm>
            <a:off x="6355080" y="2743200"/>
            <a:ext cx="2377440" cy="822960"/>
          </a:xfrm>
          <a:prstGeom prst="rect">
            <a:avLst/>
          </a:prstGeom>
          <a:noFill/>
          <a:ln/>
        </p:spPr>
        <p:txBody>
          <a:bodyPr wrap="square" lIns="0" tIns="0" rIns="0" bIns="0" rtlCol="0" anchor="ctr"/>
          <a:lstStyle/>
          <a:p>
            <a:pPr marL="0" indent="0" algn="ctr">
              <a:buNone/>
            </a:pPr>
            <a:r>
              <a:rPr lang="en-US" sz="3000" b="1" dirty="0">
                <a:solidFill>
                  <a:srgbClr val="5A6B7B"/>
                </a:solidFill>
                <a:latin typeface="Cambria" pitchFamily="34" charset="0"/>
                <a:ea typeface="Cambria" pitchFamily="34" charset="-122"/>
                <a:cs typeface="Cambria" pitchFamily="34" charset="-120"/>
              </a:rPr>
              <a:t>37.23%</a:t>
            </a:r>
            <a:endParaRPr lang="en-US" sz="3000" dirty="0"/>
          </a:p>
        </p:txBody>
      </p:sp>
      <p:sp>
        <p:nvSpPr>
          <p:cNvPr id="16" name="Text 14"/>
          <p:cNvSpPr/>
          <p:nvPr/>
        </p:nvSpPr>
        <p:spPr>
          <a:xfrm>
            <a:off x="6400800" y="3703320"/>
            <a:ext cx="2286000" cy="777240"/>
          </a:xfrm>
          <a:prstGeom prst="rect">
            <a:avLst/>
          </a:prstGeom>
          <a:noFill/>
          <a:ln/>
        </p:spPr>
        <p:txBody>
          <a:bodyPr wrap="square" lIns="0" tIns="0" rIns="0" bIns="0" rtlCol="0" anchor="ctr"/>
          <a:lstStyle/>
          <a:p>
            <a:pPr marL="0" indent="0">
              <a:buNone/>
            </a:pPr>
            <a:r>
              <a:rPr lang="en-US" sz="1050" dirty="0">
                <a:solidFill>
                  <a:srgbClr val="5A6B7B"/>
                </a:solidFill>
                <a:latin typeface="Calibri" pitchFamily="34" charset="0"/>
                <a:ea typeface="Calibri" pitchFamily="34" charset="-122"/>
                <a:cs typeface="Calibri" pitchFamily="34" charset="-120"/>
              </a:rPr>
              <a:t>6 sub-bands — underperforms plain CSP</a:t>
            </a:r>
            <a:endParaRPr lang="en-US" sz="1050" dirty="0"/>
          </a:p>
        </p:txBody>
      </p:sp>
      <p:sp>
        <p:nvSpPr>
          <p:cNvPr id="17" name="Shape 15"/>
          <p:cNvSpPr/>
          <p:nvPr/>
        </p:nvSpPr>
        <p:spPr>
          <a:xfrm>
            <a:off x="9052560" y="1737360"/>
            <a:ext cx="2651760" cy="2834640"/>
          </a:xfrm>
          <a:prstGeom prst="roundRect">
            <a:avLst>
              <a:gd name="adj" fmla="val 3448"/>
            </a:avLst>
          </a:prstGeom>
          <a:solidFill>
            <a:srgbClr val="F2F5F7"/>
          </a:solidFill>
          <a:ln/>
        </p:spPr>
      </p:sp>
      <p:sp>
        <p:nvSpPr>
          <p:cNvPr id="18" name="Text 16"/>
          <p:cNvSpPr/>
          <p:nvPr/>
        </p:nvSpPr>
        <p:spPr>
          <a:xfrm>
            <a:off x="9235440" y="1965960"/>
            <a:ext cx="2286000" cy="640080"/>
          </a:xfrm>
          <a:prstGeom prst="rect">
            <a:avLst/>
          </a:prstGeom>
          <a:noFill/>
          <a:ln/>
        </p:spPr>
        <p:txBody>
          <a:bodyPr wrap="square" lIns="0" tIns="0" rIns="0" bIns="0" rtlCol="0" anchor="ctr"/>
          <a:lstStyle/>
          <a:p>
            <a:pPr marL="0" indent="0">
              <a:buNone/>
            </a:pPr>
            <a:r>
              <a:rPr lang="en-US" sz="1300" b="1" dirty="0">
                <a:solidFill>
                  <a:srgbClr val="12294D"/>
                </a:solidFill>
                <a:latin typeface="Calibri" pitchFamily="34" charset="0"/>
                <a:ea typeface="Calibri" pitchFamily="34" charset="-122"/>
                <a:cs typeface="Calibri" pitchFamily="34" charset="-120"/>
              </a:rPr>
              <a:t>EEGNet (deep learning)</a:t>
            </a:r>
            <a:endParaRPr lang="en-US" sz="1300" dirty="0"/>
          </a:p>
        </p:txBody>
      </p:sp>
      <p:sp>
        <p:nvSpPr>
          <p:cNvPr id="19" name="Text 17"/>
          <p:cNvSpPr/>
          <p:nvPr/>
        </p:nvSpPr>
        <p:spPr>
          <a:xfrm>
            <a:off x="9189720" y="2743200"/>
            <a:ext cx="2377440" cy="822960"/>
          </a:xfrm>
          <a:prstGeom prst="rect">
            <a:avLst/>
          </a:prstGeom>
          <a:noFill/>
          <a:ln/>
        </p:spPr>
        <p:txBody>
          <a:bodyPr wrap="square" lIns="0" tIns="0" rIns="0" bIns="0" rtlCol="0" anchor="ctr"/>
          <a:lstStyle/>
          <a:p>
            <a:pPr marL="0" indent="0" algn="ctr">
              <a:buNone/>
            </a:pPr>
            <a:r>
              <a:rPr lang="en-US" sz="3000" b="1" dirty="0">
                <a:solidFill>
                  <a:srgbClr val="5A6B7B"/>
                </a:solidFill>
                <a:latin typeface="Cambria" pitchFamily="34" charset="0"/>
                <a:ea typeface="Cambria" pitchFamily="34" charset="-122"/>
                <a:cs typeface="Cambria" pitchFamily="34" charset="-120"/>
              </a:rPr>
              <a:t>38.81%</a:t>
            </a:r>
            <a:endParaRPr lang="en-US" sz="3000" dirty="0"/>
          </a:p>
        </p:txBody>
      </p:sp>
      <p:sp>
        <p:nvSpPr>
          <p:cNvPr id="20" name="Text 18"/>
          <p:cNvSpPr/>
          <p:nvPr/>
        </p:nvSpPr>
        <p:spPr>
          <a:xfrm>
            <a:off x="9235440" y="3703320"/>
            <a:ext cx="2286000" cy="777240"/>
          </a:xfrm>
          <a:prstGeom prst="rect">
            <a:avLst/>
          </a:prstGeom>
          <a:noFill/>
          <a:ln/>
        </p:spPr>
        <p:txBody>
          <a:bodyPr wrap="square" lIns="0" tIns="0" rIns="0" bIns="0" rtlCol="0" anchor="ctr"/>
          <a:lstStyle/>
          <a:p>
            <a:pPr marL="0" indent="0">
              <a:buNone/>
            </a:pPr>
            <a:r>
              <a:rPr lang="en-US" sz="1050" dirty="0">
                <a:solidFill>
                  <a:srgbClr val="5A6B7B"/>
                </a:solidFill>
                <a:latin typeface="Calibri" pitchFamily="34" charset="0"/>
                <a:ea typeface="Calibri" pitchFamily="34" charset="-122"/>
                <a:cs typeface="Calibri" pitchFamily="34" charset="-120"/>
              </a:rPr>
              <a:t>comparable to CSP, not better</a:t>
            </a:r>
            <a:endParaRPr lang="en-US" sz="1050" dirty="0"/>
          </a:p>
        </p:txBody>
      </p:sp>
      <p:sp>
        <p:nvSpPr>
          <p:cNvPr id="21" name="Shape 19"/>
          <p:cNvSpPr/>
          <p:nvPr/>
        </p:nvSpPr>
        <p:spPr>
          <a:xfrm>
            <a:off x="548640" y="4892040"/>
            <a:ext cx="11091672" cy="1234440"/>
          </a:xfrm>
          <a:prstGeom prst="roundRect">
            <a:avLst>
              <a:gd name="adj" fmla="val 5926"/>
            </a:avLst>
          </a:prstGeom>
          <a:solidFill>
            <a:srgbClr val="F2F5F7"/>
          </a:solidFill>
          <a:ln/>
        </p:spPr>
      </p:sp>
      <p:sp>
        <p:nvSpPr>
          <p:cNvPr id="22" name="Text 20"/>
          <p:cNvSpPr/>
          <p:nvPr/>
        </p:nvSpPr>
        <p:spPr>
          <a:xfrm>
            <a:off x="777240" y="4965192"/>
            <a:ext cx="10634472" cy="1088136"/>
          </a:xfrm>
          <a:prstGeom prst="rect">
            <a:avLst/>
          </a:prstGeom>
          <a:noFill/>
          <a:ln/>
        </p:spPr>
        <p:txBody>
          <a:bodyPr wrap="square" lIns="0" tIns="0" rIns="0" bIns="0" rtlCol="0" anchor="ctr"/>
          <a:lstStyle/>
          <a:p>
            <a:pPr marL="0" indent="0">
              <a:buNone/>
            </a:pPr>
            <a:r>
              <a:rPr lang="en-US" sz="1150" dirty="0">
                <a:solidFill>
                  <a:srgbClr val="1B2A3A"/>
                </a:solidFill>
                <a:latin typeface="Calibri" pitchFamily="34" charset="0"/>
                <a:ea typeface="Calibri" pitchFamily="34" charset="-122"/>
                <a:cs typeface="Calibri" pitchFamily="34" charset="-120"/>
              </a:rPr>
              <a:t>Neither alternative beats simple CSP + LDA once the epoch window is tuned. EEGNet likely needs more training data than the ~2,300 trials available per fold to show its usual advantage over hand-engineered features — worth revisiting if the dataset grows, but not the priority right now.</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01168"/>
            <a:ext cx="9144000" cy="274320"/>
          </a:xfrm>
          <a:prstGeom prst="rect">
            <a:avLst/>
          </a:prstGeom>
          <a:noFill/>
          <a:ln/>
        </p:spPr>
        <p:txBody>
          <a:bodyPr wrap="square" lIns="0" tIns="0" rIns="0" bIns="0" rtlCol="0" anchor="ctr"/>
          <a:lstStyle/>
          <a:p>
            <a:pPr marL="0" indent="0">
              <a:buNone/>
            </a:pPr>
            <a:r>
              <a:rPr lang="en-US" sz="1200" b="1" kern="0" spc="200" dirty="0">
                <a:solidFill>
                  <a:srgbClr val="1C8577"/>
                </a:solidFill>
                <a:latin typeface="Calibri" pitchFamily="34" charset="0"/>
                <a:ea typeface="Calibri" pitchFamily="34" charset="-122"/>
                <a:cs typeface="Calibri" pitchFamily="34" charset="-120"/>
              </a:rPr>
              <a:t>RESULTS — MOST PROMISING FINDING</a:t>
            </a:r>
            <a:endParaRPr lang="en-US" sz="1200" dirty="0"/>
          </a:p>
        </p:txBody>
      </p:sp>
      <p:sp>
        <p:nvSpPr>
          <p:cNvPr id="3" name="Text 1"/>
          <p:cNvSpPr/>
          <p:nvPr/>
        </p:nvSpPr>
        <p:spPr>
          <a:xfrm>
            <a:off x="548640" y="411480"/>
            <a:ext cx="11064240" cy="822960"/>
          </a:xfrm>
          <a:prstGeom prst="rect">
            <a:avLst/>
          </a:prstGeom>
          <a:noFill/>
          <a:ln/>
        </p:spPr>
        <p:txBody>
          <a:bodyPr wrap="square" lIns="0" tIns="0" rIns="0" bIns="0" rtlCol="0" anchor="ctr"/>
          <a:lstStyle/>
          <a:p>
            <a:pPr marL="0" indent="0" algn="l">
              <a:buNone/>
            </a:pPr>
            <a:r>
              <a:rPr lang="en-US" sz="3000" b="1" dirty="0">
                <a:solidFill>
                  <a:srgbClr val="12294D"/>
                </a:solidFill>
                <a:latin typeface="Cambria" pitchFamily="34" charset="0"/>
                <a:ea typeface="Cambria" pitchFamily="34" charset="-122"/>
                <a:cs typeface="Cambria" pitchFamily="34" charset="-120"/>
              </a:rPr>
              <a:t>Subject Adaptation: A Little Target Data Goes a Long Way</a:t>
            </a:r>
            <a:endParaRPr lang="en-US" sz="3000" dirty="0"/>
          </a:p>
        </p:txBody>
      </p:sp>
      <p:sp>
        <p:nvSpPr>
          <p:cNvPr id="4" name="Text 2"/>
          <p:cNvSpPr/>
          <p:nvPr/>
        </p:nvSpPr>
        <p:spPr>
          <a:xfrm>
            <a:off x="11365992" y="6400800"/>
            <a:ext cx="548640" cy="274320"/>
          </a:xfrm>
          <a:prstGeom prst="rect">
            <a:avLst/>
          </a:prstGeom>
          <a:noFill/>
          <a:ln/>
        </p:spPr>
        <p:txBody>
          <a:bodyPr wrap="square" lIns="0" tIns="0" rIns="0" bIns="0" rtlCol="0" anchor="ctr"/>
          <a:lstStyle/>
          <a:p>
            <a:pPr marL="0" indent="0" algn="r">
              <a:buNone/>
            </a:pPr>
            <a:r>
              <a:rPr lang="en-US" sz="1000" dirty="0">
                <a:solidFill>
                  <a:srgbClr val="A9B4BE"/>
                </a:solidFill>
                <a:latin typeface="Calibri" pitchFamily="34" charset="0"/>
                <a:ea typeface="Calibri" pitchFamily="34" charset="-122"/>
                <a:cs typeface="Calibri" pitchFamily="34" charset="-120"/>
              </a:rPr>
              <a:t>10</a:t>
            </a:r>
            <a:endParaRPr lang="en-US" sz="1000" dirty="0"/>
          </a:p>
        </p:txBody>
      </p:sp>
      <p:sp>
        <p:nvSpPr>
          <p:cNvPr id="5" name="Text 3"/>
          <p:cNvSpPr/>
          <p:nvPr/>
        </p:nvSpPr>
        <p:spPr>
          <a:xfrm>
            <a:off x="548640" y="1463040"/>
            <a:ext cx="11064240" cy="457200"/>
          </a:xfrm>
          <a:prstGeom prst="rect">
            <a:avLst/>
          </a:prstGeom>
          <a:noFill/>
          <a:ln/>
        </p:spPr>
        <p:txBody>
          <a:bodyPr wrap="square" lIns="0" tIns="0" rIns="0" bIns="0" rtlCol="0" anchor="ctr"/>
          <a:lstStyle/>
          <a:p>
            <a:pPr marL="0" indent="0">
              <a:buNone/>
            </a:pPr>
            <a:r>
              <a:rPr lang="en-US" sz="1300" dirty="0">
                <a:solidFill>
                  <a:srgbClr val="1B2A3A"/>
                </a:solidFill>
                <a:latin typeface="Calibri" pitchFamily="34" charset="0"/>
                <a:ea typeface="Calibri" pitchFamily="34" charset="-122"/>
                <a:cs typeface="Calibri" pitchFamily="34" charset="-120"/>
              </a:rPr>
              <a:t>Train on 8 other subjects + an increasing slice of the target subject's own data → test on that subject's separate evaluation session.</a:t>
            </a:r>
            <a:endParaRPr lang="en-US" sz="1300" dirty="0"/>
          </a:p>
        </p:txBody>
      </p:sp>
      <p:sp>
        <p:nvSpPr>
          <p:cNvPr id="6" name="Text 4"/>
          <p:cNvSpPr/>
          <p:nvPr/>
        </p:nvSpPr>
        <p:spPr>
          <a:xfrm>
            <a:off x="548640" y="2011680"/>
            <a:ext cx="5394960" cy="274320"/>
          </a:xfrm>
          <a:prstGeom prst="rect">
            <a:avLst/>
          </a:prstGeom>
          <a:noFill/>
          <a:ln/>
        </p:spPr>
        <p:txBody>
          <a:bodyPr wrap="square" lIns="0" tIns="0" rIns="0" bIns="0" rtlCol="0" anchor="ctr"/>
          <a:lstStyle/>
          <a:p>
            <a:pPr marL="0" indent="0">
              <a:buNone/>
            </a:pPr>
            <a:r>
              <a:rPr lang="en-US" sz="1150" b="1" kern="0" spc="150" dirty="0">
                <a:solidFill>
                  <a:srgbClr val="1C7293"/>
                </a:solidFill>
                <a:latin typeface="Calibri" pitchFamily="34" charset="0"/>
                <a:ea typeface="Calibri" pitchFamily="34" charset="-122"/>
                <a:cs typeface="Calibri" pitchFamily="34" charset="-120"/>
              </a:rPr>
              <a:t>ACCURACY vs. TARGET DATA USED</a:t>
            </a:r>
            <a:endParaRPr lang="en-US" sz="1150" dirty="0"/>
          </a:p>
        </p:txBody>
      </p:sp>
      <p:graphicFrame>
        <p:nvGraphicFramePr>
          <p:cNvPr id="7" name="Chart 0"/>
          <p:cNvGraphicFramePr/>
          <p:nvPr/>
        </p:nvGraphicFramePr>
        <p:xfrm>
          <a:off x="548640" y="2331720"/>
          <a:ext cx="5394960" cy="3291840"/>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 5"/>
          <p:cNvSpPr/>
          <p:nvPr/>
        </p:nvSpPr>
        <p:spPr>
          <a:xfrm>
            <a:off x="6309360" y="2194560"/>
            <a:ext cx="2468880" cy="777240"/>
          </a:xfrm>
          <a:prstGeom prst="rect">
            <a:avLst/>
          </a:prstGeom>
          <a:noFill/>
          <a:ln/>
        </p:spPr>
        <p:txBody>
          <a:bodyPr wrap="square" lIns="0" tIns="0" rIns="0" bIns="0" rtlCol="0" anchor="ctr"/>
          <a:lstStyle/>
          <a:p>
            <a:pPr marL="0" indent="0" algn="ctr">
              <a:buNone/>
            </a:pPr>
            <a:r>
              <a:rPr lang="en-US" sz="4000" b="1" dirty="0">
                <a:solidFill>
                  <a:srgbClr val="1C8577"/>
                </a:solidFill>
                <a:latin typeface="Cambria" pitchFamily="34" charset="0"/>
                <a:ea typeface="Cambria" pitchFamily="34" charset="-122"/>
                <a:cs typeface="Cambria" pitchFamily="34" charset="-120"/>
              </a:rPr>
              <a:t>+7.6pp</a:t>
            </a:r>
            <a:endParaRPr lang="en-US" sz="4000" dirty="0"/>
          </a:p>
        </p:txBody>
      </p:sp>
      <p:sp>
        <p:nvSpPr>
          <p:cNvPr id="9" name="Text 6"/>
          <p:cNvSpPr/>
          <p:nvPr/>
        </p:nvSpPr>
        <p:spPr>
          <a:xfrm>
            <a:off x="6309360" y="2907792"/>
            <a:ext cx="2468880" cy="457200"/>
          </a:xfrm>
          <a:prstGeom prst="rect">
            <a:avLst/>
          </a:prstGeom>
          <a:noFill/>
          <a:ln/>
        </p:spPr>
        <p:txBody>
          <a:bodyPr wrap="square" lIns="0" tIns="0" rIns="0" bIns="0" rtlCol="0" anchor="ctr"/>
          <a:lstStyle/>
          <a:p>
            <a:pPr marL="0" indent="0" algn="ctr">
              <a:buNone/>
            </a:pPr>
            <a:r>
              <a:rPr lang="en-US" sz="1150" dirty="0">
                <a:solidFill>
                  <a:srgbClr val="5A6B7B"/>
                </a:solidFill>
                <a:latin typeface="Calibri" pitchFamily="34" charset="0"/>
                <a:ea typeface="Calibri" pitchFamily="34" charset="-122"/>
                <a:cs typeface="Calibri" pitchFamily="34" charset="-120"/>
              </a:rPr>
              <a:t>gain at 20% target data</a:t>
            </a:r>
            <a:endParaRPr lang="en-US" sz="1150" dirty="0"/>
          </a:p>
        </p:txBody>
      </p:sp>
      <p:sp>
        <p:nvSpPr>
          <p:cNvPr id="10" name="Text 7"/>
          <p:cNvSpPr/>
          <p:nvPr/>
        </p:nvSpPr>
        <p:spPr>
          <a:xfrm>
            <a:off x="8915400" y="2194560"/>
            <a:ext cx="2651760" cy="777240"/>
          </a:xfrm>
          <a:prstGeom prst="rect">
            <a:avLst/>
          </a:prstGeom>
          <a:noFill/>
          <a:ln/>
        </p:spPr>
        <p:txBody>
          <a:bodyPr wrap="square" lIns="0" tIns="0" rIns="0" bIns="0" rtlCol="0" anchor="ctr"/>
          <a:lstStyle/>
          <a:p>
            <a:pPr marL="0" indent="0" algn="ctr">
              <a:buNone/>
            </a:pPr>
            <a:r>
              <a:rPr lang="en-US" sz="4000" b="1" dirty="0">
                <a:solidFill>
                  <a:srgbClr val="1C7293"/>
                </a:solidFill>
                <a:latin typeface="Cambria" pitchFamily="34" charset="0"/>
                <a:ea typeface="Cambria" pitchFamily="34" charset="-122"/>
                <a:cs typeface="Cambria" pitchFamily="34" charset="-120"/>
              </a:rPr>
              <a:t>↓ Std</a:t>
            </a:r>
            <a:endParaRPr lang="en-US" sz="4000" dirty="0"/>
          </a:p>
        </p:txBody>
      </p:sp>
      <p:sp>
        <p:nvSpPr>
          <p:cNvPr id="11" name="Text 8"/>
          <p:cNvSpPr/>
          <p:nvPr/>
        </p:nvSpPr>
        <p:spPr>
          <a:xfrm>
            <a:off x="8915400" y="2907792"/>
            <a:ext cx="2651760" cy="457200"/>
          </a:xfrm>
          <a:prstGeom prst="rect">
            <a:avLst/>
          </a:prstGeom>
          <a:noFill/>
          <a:ln/>
        </p:spPr>
        <p:txBody>
          <a:bodyPr wrap="square" lIns="0" tIns="0" rIns="0" bIns="0" rtlCol="0" anchor="ctr"/>
          <a:lstStyle/>
          <a:p>
            <a:pPr marL="0" indent="0" algn="ctr">
              <a:buNone/>
            </a:pPr>
            <a:r>
              <a:rPr lang="en-US" sz="1150" dirty="0">
                <a:solidFill>
                  <a:srgbClr val="5A6B7B"/>
                </a:solidFill>
                <a:latin typeface="Calibri" pitchFamily="34" charset="0"/>
                <a:ea typeface="Calibri" pitchFamily="34" charset="-122"/>
                <a:cs typeface="Calibri" pitchFamily="34" charset="-120"/>
              </a:rPr>
              <a:t>14.8% → 12.0% (more consistent too)</a:t>
            </a:r>
            <a:endParaRPr lang="en-US" sz="1150" dirty="0"/>
          </a:p>
        </p:txBody>
      </p:sp>
      <p:sp>
        <p:nvSpPr>
          <p:cNvPr id="12" name="Shape 9"/>
          <p:cNvSpPr/>
          <p:nvPr/>
        </p:nvSpPr>
        <p:spPr>
          <a:xfrm>
            <a:off x="6309360" y="4114800"/>
            <a:ext cx="5257800" cy="2194560"/>
          </a:xfrm>
          <a:prstGeom prst="roundRect">
            <a:avLst>
              <a:gd name="adj" fmla="val 3333"/>
            </a:avLst>
          </a:prstGeom>
          <a:solidFill>
            <a:srgbClr val="E8F7F5"/>
          </a:solidFill>
          <a:ln/>
        </p:spPr>
      </p:sp>
      <p:sp>
        <p:nvSpPr>
          <p:cNvPr id="13" name="Text 10"/>
          <p:cNvSpPr/>
          <p:nvPr/>
        </p:nvSpPr>
        <p:spPr>
          <a:xfrm>
            <a:off x="6537960" y="4187952"/>
            <a:ext cx="4800600" cy="2048256"/>
          </a:xfrm>
          <a:prstGeom prst="rect">
            <a:avLst/>
          </a:prstGeom>
          <a:noFill/>
          <a:ln/>
        </p:spPr>
        <p:txBody>
          <a:bodyPr wrap="square" lIns="0" tIns="0" rIns="0" bIns="0" rtlCol="0" anchor="ctr"/>
          <a:lstStyle/>
          <a:p>
            <a:pPr marL="0" indent="0">
              <a:buNone/>
            </a:pPr>
            <a:r>
              <a:rPr lang="en-US" sz="1150" b="1" dirty="0">
                <a:solidFill>
                  <a:srgbClr val="1C8577"/>
                </a:solidFill>
                <a:latin typeface="Calibri" pitchFamily="34" charset="0"/>
                <a:ea typeface="Calibri" pitchFamily="34" charset="-122"/>
                <a:cs typeface="Calibri" pitchFamily="34" charset="-120"/>
              </a:rPr>
              <a:t>✓ </a:t>
            </a:r>
            <a:r>
              <a:rPr lang="en-US" sz="1150" dirty="0">
                <a:solidFill>
                  <a:srgbClr val="1F2937"/>
                </a:solidFill>
                <a:latin typeface="Calibri" pitchFamily="34" charset="0"/>
                <a:ea typeface="Calibri" pitchFamily="34" charset="-122"/>
                <a:cs typeface="Calibri" pitchFamily="34" charset="-120"/>
              </a:rPr>
              <a:t>Every adaptation level improved on the 0% baseline, AND got more consistent across subjects. Subjects who generalize worst with zero target data (A05, A02) show some of the largest relative gains from adaptation. Just 20% of a subject's own data closes roughly a quarter of the gap between LOSO (~31-41%) and true single-subject performance (83%). This is the strongest lead in the whole project so far.</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01168"/>
            <a:ext cx="9144000"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RESULTS — THE REAL BOTTLENECK</a:t>
            </a:r>
            <a:endParaRPr lang="en-US" sz="1200" dirty="0"/>
          </a:p>
        </p:txBody>
      </p:sp>
      <p:sp>
        <p:nvSpPr>
          <p:cNvPr id="3" name="Text 1"/>
          <p:cNvSpPr/>
          <p:nvPr/>
        </p:nvSpPr>
        <p:spPr>
          <a:xfrm>
            <a:off x="548640" y="411480"/>
            <a:ext cx="11064240" cy="822960"/>
          </a:xfrm>
          <a:prstGeom prst="rect">
            <a:avLst/>
          </a:prstGeom>
          <a:noFill/>
          <a:ln/>
        </p:spPr>
        <p:txBody>
          <a:bodyPr wrap="square" lIns="0" tIns="0" rIns="0" bIns="0" rtlCol="0" anchor="ctr"/>
          <a:lstStyle/>
          <a:p>
            <a:pPr marL="0" indent="0" algn="l">
              <a:buNone/>
            </a:pPr>
            <a:r>
              <a:rPr lang="en-US" sz="3000" b="1" dirty="0">
                <a:solidFill>
                  <a:srgbClr val="12294D"/>
                </a:solidFill>
                <a:latin typeface="Cambria" pitchFamily="34" charset="0"/>
                <a:ea typeface="Cambria" pitchFamily="34" charset="-122"/>
                <a:cs typeface="Cambria" pitchFamily="34" charset="-120"/>
              </a:rPr>
              <a:t>It's Not the Day — It's the Person</a:t>
            </a:r>
            <a:endParaRPr lang="en-US" sz="3000" dirty="0"/>
          </a:p>
        </p:txBody>
      </p:sp>
      <p:sp>
        <p:nvSpPr>
          <p:cNvPr id="4" name="Text 2"/>
          <p:cNvSpPr/>
          <p:nvPr/>
        </p:nvSpPr>
        <p:spPr>
          <a:xfrm>
            <a:off x="11365992" y="6400800"/>
            <a:ext cx="548640" cy="274320"/>
          </a:xfrm>
          <a:prstGeom prst="rect">
            <a:avLst/>
          </a:prstGeom>
          <a:noFill/>
          <a:ln/>
        </p:spPr>
        <p:txBody>
          <a:bodyPr wrap="square" lIns="0" tIns="0" rIns="0" bIns="0" rtlCol="0" anchor="ctr"/>
          <a:lstStyle/>
          <a:p>
            <a:pPr marL="0" indent="0" algn="r">
              <a:buNone/>
            </a:pPr>
            <a:r>
              <a:rPr lang="en-US" sz="1000" dirty="0">
                <a:solidFill>
                  <a:srgbClr val="A9B4BE"/>
                </a:solidFill>
                <a:latin typeface="Calibri" pitchFamily="34" charset="0"/>
                <a:ea typeface="Calibri" pitchFamily="34" charset="-122"/>
                <a:cs typeface="Calibri" pitchFamily="34" charset="-120"/>
              </a:rPr>
              <a:t>11</a:t>
            </a:r>
            <a:endParaRPr lang="en-US" sz="1000" dirty="0"/>
          </a:p>
        </p:txBody>
      </p:sp>
      <p:sp>
        <p:nvSpPr>
          <p:cNvPr id="5" name="Text 3"/>
          <p:cNvSpPr/>
          <p:nvPr/>
        </p:nvSpPr>
        <p:spPr>
          <a:xfrm>
            <a:off x="548640" y="1463040"/>
            <a:ext cx="11064240" cy="457200"/>
          </a:xfrm>
          <a:prstGeom prst="rect">
            <a:avLst/>
          </a:prstGeom>
          <a:noFill/>
          <a:ln/>
        </p:spPr>
        <p:txBody>
          <a:bodyPr wrap="square" lIns="0" tIns="0" rIns="0" bIns="0" rtlCol="0" anchor="ctr"/>
          <a:lstStyle/>
          <a:p>
            <a:pPr marL="0" indent="0">
              <a:buNone/>
            </a:pPr>
            <a:r>
              <a:rPr lang="en-US" sz="1300" dirty="0">
                <a:solidFill>
                  <a:srgbClr val="1B2A3A"/>
                </a:solidFill>
                <a:latin typeface="Calibri" pitchFamily="34" charset="0"/>
                <a:ea typeface="Calibri" pitchFamily="34" charset="-122"/>
                <a:cs typeface="Calibri" pitchFamily="34" charset="-120"/>
              </a:rPr>
              <a:t>Cross-session: train and test on the SAME subject, different day.  Cross-subject: train on OTHER subjects, test on someone new.</a:t>
            </a:r>
            <a:endParaRPr lang="en-US" sz="1300" dirty="0"/>
          </a:p>
        </p:txBody>
      </p:sp>
      <p:graphicFrame>
        <p:nvGraphicFramePr>
          <p:cNvPr id="6" name="Chart 0"/>
          <p:cNvGraphicFramePr/>
          <p:nvPr/>
        </p:nvGraphicFramePr>
        <p:xfrm>
          <a:off x="548640" y="2011680"/>
          <a:ext cx="6675120" cy="411480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7452360" y="2103120"/>
            <a:ext cx="4206240" cy="3931920"/>
          </a:xfrm>
          <a:prstGeom prst="roundRect">
            <a:avLst>
              <a:gd name="adj" fmla="val 1860"/>
            </a:avLst>
          </a:prstGeom>
          <a:solidFill>
            <a:srgbClr val="E8F7F5"/>
          </a:solidFill>
          <a:ln/>
        </p:spPr>
      </p:sp>
      <p:sp>
        <p:nvSpPr>
          <p:cNvPr id="8" name="Text 5"/>
          <p:cNvSpPr/>
          <p:nvPr/>
        </p:nvSpPr>
        <p:spPr>
          <a:xfrm>
            <a:off x="7680960" y="2176272"/>
            <a:ext cx="3749040" cy="3785616"/>
          </a:xfrm>
          <a:prstGeom prst="rect">
            <a:avLst/>
          </a:prstGeom>
          <a:noFill/>
          <a:ln/>
        </p:spPr>
        <p:txBody>
          <a:bodyPr wrap="square" lIns="0" tIns="0" rIns="0" bIns="0" rtlCol="0" anchor="ctr"/>
          <a:lstStyle/>
          <a:p>
            <a:pPr marL="0" indent="0">
              <a:buNone/>
            </a:pPr>
            <a:r>
              <a:rPr lang="en-US" sz="1150" b="1" dirty="0">
                <a:solidFill>
                  <a:srgbClr val="1C8577"/>
                </a:solidFill>
                <a:latin typeface="Calibri" pitchFamily="34" charset="0"/>
                <a:ea typeface="Calibri" pitchFamily="34" charset="-122"/>
                <a:cs typeface="Calibri" pitchFamily="34" charset="-120"/>
              </a:rPr>
              <a:t>✓ </a:t>
            </a:r>
            <a:r>
              <a:rPr lang="en-US" sz="1150" dirty="0">
                <a:solidFill>
                  <a:srgbClr val="1F2937"/>
                </a:solidFill>
                <a:latin typeface="Calibri" pitchFamily="34" charset="0"/>
                <a:ea typeface="Calibri" pitchFamily="34" charset="-122"/>
                <a:cs typeface="Calibri" pitchFamily="34" charset="-120"/>
              </a:rPr>
              <a:t>Cross-session (56.75%) sits far closer to single-subject (83%) than to cross-subject LOSO (38.31%). Day-to-day variability within one person is real but modest — the dominant obstacle is variability between different people's brains and electrode placement, not time. This directly supports subject adaptation as the right next direction.</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2294D"/>
        </a:solidFill>
        <a:effectLst/>
      </p:bgPr>
    </p:bg>
    <p:spTree>
      <p:nvGrpSpPr>
        <p:cNvPr id="1" name=""/>
        <p:cNvGrpSpPr/>
        <p:nvPr/>
      </p:nvGrpSpPr>
      <p:grpSpPr>
        <a:xfrm>
          <a:off x="0" y="0"/>
          <a:ext cx="0" cy="0"/>
          <a:chOff x="0" y="0"/>
          <a:chExt cx="0" cy="0"/>
        </a:xfrm>
      </p:grpSpPr>
      <p:sp>
        <p:nvSpPr>
          <p:cNvPr id="2" name="Shape 0"/>
          <p:cNvSpPr/>
          <p:nvPr/>
        </p:nvSpPr>
        <p:spPr>
          <a:xfrm>
            <a:off x="9509760" y="-1645920"/>
            <a:ext cx="4206240" cy="4206240"/>
          </a:xfrm>
          <a:prstGeom prst="ellipse">
            <a:avLst/>
          </a:prstGeom>
          <a:solidFill>
            <a:srgbClr val="1C7293">
              <a:alpha val="20000"/>
            </a:srgbClr>
          </a:solidFill>
          <a:ln/>
        </p:spPr>
      </p:sp>
      <p:sp>
        <p:nvSpPr>
          <p:cNvPr id="3" name="Text 1"/>
          <p:cNvSpPr/>
          <p:nvPr/>
        </p:nvSpPr>
        <p:spPr>
          <a:xfrm>
            <a:off x="548640" y="201168"/>
            <a:ext cx="9144000" cy="274320"/>
          </a:xfrm>
          <a:prstGeom prst="rect">
            <a:avLst/>
          </a:prstGeom>
          <a:noFill/>
          <a:ln/>
        </p:spPr>
        <p:txBody>
          <a:bodyPr wrap="square" lIns="0" tIns="0" rIns="0" bIns="0" rtlCol="0" anchor="ctr"/>
          <a:lstStyle/>
          <a:p>
            <a:pPr marL="0" indent="0">
              <a:buNone/>
            </a:pPr>
            <a:r>
              <a:rPr lang="en-US" sz="1200" b="1" kern="0" spc="200" dirty="0">
                <a:solidFill>
                  <a:srgbClr val="2EC4B6"/>
                </a:solidFill>
                <a:latin typeface="Calibri" pitchFamily="34" charset="0"/>
                <a:ea typeface="Calibri" pitchFamily="34" charset="-122"/>
                <a:cs typeface="Calibri" pitchFamily="34" charset="-120"/>
              </a:rPr>
              <a:t>CONCLUSION</a:t>
            </a:r>
            <a:endParaRPr lang="en-US" sz="1200" dirty="0"/>
          </a:p>
        </p:txBody>
      </p:sp>
      <p:sp>
        <p:nvSpPr>
          <p:cNvPr id="4" name="Text 2"/>
          <p:cNvSpPr/>
          <p:nvPr/>
        </p:nvSpPr>
        <p:spPr>
          <a:xfrm>
            <a:off x="548640" y="411480"/>
            <a:ext cx="11064240" cy="822960"/>
          </a:xfrm>
          <a:prstGeom prst="rect">
            <a:avLst/>
          </a:prstGeom>
          <a:noFill/>
          <a:ln/>
        </p:spPr>
        <p:txBody>
          <a:bodyPr wrap="square" lIns="0" tIns="0" rIns="0" bIns="0" rtlCol="0" anchor="ctr"/>
          <a:lstStyle/>
          <a:p>
            <a:pPr marL="0" indent="0" algn="l">
              <a:buNone/>
            </a:pPr>
            <a:r>
              <a:rPr lang="en-US" sz="3000" b="1" dirty="0">
                <a:solidFill>
                  <a:srgbClr val="FFFFFF"/>
                </a:solidFill>
                <a:latin typeface="Cambria" pitchFamily="34" charset="0"/>
                <a:ea typeface="Cambria" pitchFamily="34" charset="-122"/>
                <a:cs typeface="Cambria" pitchFamily="34" charset="-120"/>
              </a:rPr>
              <a:t>Where This Stands</a:t>
            </a:r>
            <a:endParaRPr lang="en-US" sz="3000" dirty="0"/>
          </a:p>
        </p:txBody>
      </p:sp>
      <p:sp>
        <p:nvSpPr>
          <p:cNvPr id="5" name="Text 3"/>
          <p:cNvSpPr/>
          <p:nvPr/>
        </p:nvSpPr>
        <p:spPr>
          <a:xfrm>
            <a:off x="11365992" y="6400800"/>
            <a:ext cx="548640" cy="274320"/>
          </a:xfrm>
          <a:prstGeom prst="rect">
            <a:avLst/>
          </a:prstGeom>
          <a:noFill/>
          <a:ln/>
        </p:spPr>
        <p:txBody>
          <a:bodyPr wrap="square" lIns="0" tIns="0" rIns="0" bIns="0" rtlCol="0" anchor="ctr"/>
          <a:lstStyle/>
          <a:p>
            <a:pPr marL="0" indent="0" algn="r">
              <a:buNone/>
            </a:pPr>
            <a:r>
              <a:rPr lang="en-US" sz="1000" dirty="0">
                <a:solidFill>
                  <a:srgbClr val="8FA6C2"/>
                </a:solidFill>
                <a:latin typeface="Calibri" pitchFamily="34" charset="0"/>
                <a:ea typeface="Calibri" pitchFamily="34" charset="-122"/>
                <a:cs typeface="Calibri" pitchFamily="34" charset="-120"/>
              </a:rPr>
              <a:t>12</a:t>
            </a:r>
            <a:endParaRPr lang="en-US" sz="1000" dirty="0"/>
          </a:p>
        </p:txBody>
      </p:sp>
      <p:sp>
        <p:nvSpPr>
          <p:cNvPr id="6" name="Text 4"/>
          <p:cNvSpPr/>
          <p:nvPr/>
        </p:nvSpPr>
        <p:spPr>
          <a:xfrm>
            <a:off x="548640" y="1371600"/>
            <a:ext cx="11064240" cy="457200"/>
          </a:xfrm>
          <a:prstGeom prst="rect">
            <a:avLst/>
          </a:prstGeom>
          <a:noFill/>
          <a:ln/>
        </p:spPr>
        <p:txBody>
          <a:bodyPr wrap="square" lIns="0" tIns="0" rIns="0" bIns="0" rtlCol="0" anchor="ctr"/>
          <a:lstStyle/>
          <a:p>
            <a:pPr marL="0" indent="0">
              <a:buNone/>
            </a:pPr>
            <a:r>
              <a:rPr lang="en-US" sz="1500" i="1" dirty="0">
                <a:solidFill>
                  <a:srgbClr val="C9D6E3"/>
                </a:solidFill>
                <a:latin typeface="Calibri" pitchFamily="34" charset="0"/>
                <a:ea typeface="Calibri" pitchFamily="34" charset="-122"/>
                <a:cs typeface="Calibri" pitchFamily="34" charset="-120"/>
              </a:rPr>
              <a:t>A complete investigation, with an open, well-defined engineering path ahead.</a:t>
            </a:r>
            <a:endParaRPr lang="en-US" sz="1500" dirty="0"/>
          </a:p>
        </p:txBody>
      </p:sp>
      <p:sp>
        <p:nvSpPr>
          <p:cNvPr id="7" name="Shape 5"/>
          <p:cNvSpPr/>
          <p:nvPr/>
        </p:nvSpPr>
        <p:spPr>
          <a:xfrm>
            <a:off x="548640" y="2057400"/>
            <a:ext cx="5349240" cy="3566160"/>
          </a:xfrm>
          <a:prstGeom prst="roundRect">
            <a:avLst>
              <a:gd name="adj" fmla="val 2564"/>
            </a:avLst>
          </a:prstGeom>
          <a:solidFill>
            <a:srgbClr val="1B355C"/>
          </a:solidFill>
          <a:ln/>
        </p:spPr>
      </p:sp>
      <p:sp>
        <p:nvSpPr>
          <p:cNvPr id="8" name="Text 6"/>
          <p:cNvSpPr/>
          <p:nvPr/>
        </p:nvSpPr>
        <p:spPr>
          <a:xfrm>
            <a:off x="822960" y="2286000"/>
            <a:ext cx="4800600" cy="274320"/>
          </a:xfrm>
          <a:prstGeom prst="rect">
            <a:avLst/>
          </a:prstGeom>
          <a:noFill/>
          <a:ln/>
        </p:spPr>
        <p:txBody>
          <a:bodyPr wrap="square" lIns="0" tIns="0" rIns="0" bIns="0" rtlCol="0" anchor="ctr"/>
          <a:lstStyle/>
          <a:p>
            <a:pPr marL="0" indent="0">
              <a:buNone/>
            </a:pPr>
            <a:r>
              <a:rPr lang="en-US" sz="1150" b="1" kern="0" spc="150" dirty="0">
                <a:solidFill>
                  <a:srgbClr val="2EC4B6"/>
                </a:solidFill>
                <a:latin typeface="Calibri" pitchFamily="34" charset="0"/>
                <a:ea typeface="Calibri" pitchFamily="34" charset="-122"/>
                <a:cs typeface="Calibri" pitchFamily="34" charset="-120"/>
              </a:rPr>
              <a:t>WHAT'S ESTABLISHED</a:t>
            </a:r>
            <a:endParaRPr lang="en-US" sz="1150" dirty="0"/>
          </a:p>
        </p:txBody>
      </p:sp>
      <p:sp>
        <p:nvSpPr>
          <p:cNvPr id="9" name="Shape 7"/>
          <p:cNvSpPr/>
          <p:nvPr/>
        </p:nvSpPr>
        <p:spPr>
          <a:xfrm>
            <a:off x="822960" y="2715768"/>
            <a:ext cx="274320" cy="274320"/>
          </a:xfrm>
          <a:prstGeom prst="ellipse">
            <a:avLst/>
          </a:prstGeom>
          <a:solidFill>
            <a:srgbClr val="12294D"/>
          </a:solidFill>
          <a:ln/>
        </p:spPr>
      </p:sp>
      <p:pic>
        <p:nvPicPr>
          <p:cNvPr id="10" name="Image 0" descr="icons/check_2EC4B6.png"/>
          <p:cNvPicPr>
            <a:picLocks noChangeAspect="1"/>
          </p:cNvPicPr>
          <p:nvPr/>
        </p:nvPicPr>
        <p:blipFill>
          <a:blip r:embed="rId3"/>
          <a:stretch>
            <a:fillRect/>
          </a:stretch>
        </p:blipFill>
        <p:spPr>
          <a:xfrm>
            <a:off x="894283" y="2787091"/>
            <a:ext cx="131674" cy="131674"/>
          </a:xfrm>
          <a:prstGeom prst="rect">
            <a:avLst/>
          </a:prstGeom>
        </p:spPr>
      </p:pic>
      <p:sp>
        <p:nvSpPr>
          <p:cNvPr id="11" name="Text 8"/>
          <p:cNvSpPr/>
          <p:nvPr/>
        </p:nvSpPr>
        <p:spPr>
          <a:xfrm>
            <a:off x="1207008" y="2660904"/>
            <a:ext cx="4434840" cy="475488"/>
          </a:xfrm>
          <a:prstGeom prst="rect">
            <a:avLst/>
          </a:prstGeom>
          <a:noFill/>
          <a:ln/>
        </p:spPr>
        <p:txBody>
          <a:bodyPr wrap="square" lIns="0" tIns="0" rIns="0" bIns="0" rtlCol="0" anchor="ctr"/>
          <a:lstStyle/>
          <a:p>
            <a:pPr marL="0" indent="0">
              <a:buNone/>
            </a:pPr>
            <a:r>
              <a:rPr lang="en-US" sz="1100" dirty="0">
                <a:solidFill>
                  <a:srgbClr val="E6ECF2"/>
                </a:solidFill>
                <a:latin typeface="Calibri" pitchFamily="34" charset="0"/>
                <a:ea typeface="Calibri" pitchFamily="34" charset="-122"/>
                <a:cs typeface="Calibri" pitchFamily="34" charset="-120"/>
              </a:rPr>
              <a:t>Single-subject ceiling: 83%</a:t>
            </a:r>
            <a:endParaRPr lang="en-US" sz="1100" dirty="0"/>
          </a:p>
        </p:txBody>
      </p:sp>
      <p:sp>
        <p:nvSpPr>
          <p:cNvPr id="12" name="Shape 9"/>
          <p:cNvSpPr/>
          <p:nvPr/>
        </p:nvSpPr>
        <p:spPr>
          <a:xfrm>
            <a:off x="822960" y="3227832"/>
            <a:ext cx="274320" cy="274320"/>
          </a:xfrm>
          <a:prstGeom prst="ellipse">
            <a:avLst/>
          </a:prstGeom>
          <a:solidFill>
            <a:srgbClr val="12294D"/>
          </a:solidFill>
          <a:ln/>
        </p:spPr>
      </p:sp>
      <p:pic>
        <p:nvPicPr>
          <p:cNvPr id="13" name="Image 1" descr="icons/check_2EC4B6.png"/>
          <p:cNvPicPr>
            <a:picLocks noChangeAspect="1"/>
          </p:cNvPicPr>
          <p:nvPr/>
        </p:nvPicPr>
        <p:blipFill>
          <a:blip r:embed="rId3"/>
          <a:stretch>
            <a:fillRect/>
          </a:stretch>
        </p:blipFill>
        <p:spPr>
          <a:xfrm>
            <a:off x="894283" y="3299155"/>
            <a:ext cx="131674" cy="131674"/>
          </a:xfrm>
          <a:prstGeom prst="rect">
            <a:avLst/>
          </a:prstGeom>
        </p:spPr>
      </p:pic>
      <p:sp>
        <p:nvSpPr>
          <p:cNvPr id="14" name="Text 10"/>
          <p:cNvSpPr/>
          <p:nvPr/>
        </p:nvSpPr>
        <p:spPr>
          <a:xfrm>
            <a:off x="1207008" y="3172968"/>
            <a:ext cx="4434840" cy="475488"/>
          </a:xfrm>
          <a:prstGeom prst="rect">
            <a:avLst/>
          </a:prstGeom>
          <a:noFill/>
          <a:ln/>
        </p:spPr>
        <p:txBody>
          <a:bodyPr wrap="square" lIns="0" tIns="0" rIns="0" bIns="0" rtlCol="0" anchor="ctr"/>
          <a:lstStyle/>
          <a:p>
            <a:pPr marL="0" indent="0">
              <a:buNone/>
            </a:pPr>
            <a:r>
              <a:rPr lang="en-US" sz="1100" dirty="0">
                <a:solidFill>
                  <a:srgbClr val="E6ECF2"/>
                </a:solidFill>
                <a:latin typeface="Calibri" pitchFamily="34" charset="0"/>
                <a:ea typeface="Calibri" pitchFamily="34" charset="-122"/>
                <a:cs typeface="Calibri" pitchFamily="34" charset="-120"/>
              </a:rPr>
              <a:t>A real data bug found, fixed &amp; verified</a:t>
            </a:r>
            <a:endParaRPr lang="en-US" sz="1100" dirty="0"/>
          </a:p>
        </p:txBody>
      </p:sp>
      <p:sp>
        <p:nvSpPr>
          <p:cNvPr id="15" name="Shape 11"/>
          <p:cNvSpPr/>
          <p:nvPr/>
        </p:nvSpPr>
        <p:spPr>
          <a:xfrm>
            <a:off x="822960" y="3739896"/>
            <a:ext cx="274320" cy="274320"/>
          </a:xfrm>
          <a:prstGeom prst="ellipse">
            <a:avLst/>
          </a:prstGeom>
          <a:solidFill>
            <a:srgbClr val="12294D"/>
          </a:solidFill>
          <a:ln/>
        </p:spPr>
      </p:sp>
      <p:pic>
        <p:nvPicPr>
          <p:cNvPr id="16" name="Image 2" descr="icons/check_2EC4B6.png"/>
          <p:cNvPicPr>
            <a:picLocks noChangeAspect="1"/>
          </p:cNvPicPr>
          <p:nvPr/>
        </p:nvPicPr>
        <p:blipFill>
          <a:blip r:embed="rId3"/>
          <a:stretch>
            <a:fillRect/>
          </a:stretch>
        </p:blipFill>
        <p:spPr>
          <a:xfrm>
            <a:off x="894283" y="3811219"/>
            <a:ext cx="131674" cy="131674"/>
          </a:xfrm>
          <a:prstGeom prst="rect">
            <a:avLst/>
          </a:prstGeom>
        </p:spPr>
      </p:pic>
      <p:sp>
        <p:nvSpPr>
          <p:cNvPr id="17" name="Text 12"/>
          <p:cNvSpPr/>
          <p:nvPr/>
        </p:nvSpPr>
        <p:spPr>
          <a:xfrm>
            <a:off x="1207008" y="3685032"/>
            <a:ext cx="4434840" cy="475488"/>
          </a:xfrm>
          <a:prstGeom prst="rect">
            <a:avLst/>
          </a:prstGeom>
          <a:noFill/>
          <a:ln/>
        </p:spPr>
        <p:txBody>
          <a:bodyPr wrap="square" lIns="0" tIns="0" rIns="0" bIns="0" rtlCol="0" anchor="ctr"/>
          <a:lstStyle/>
          <a:p>
            <a:pPr marL="0" indent="0">
              <a:buNone/>
            </a:pPr>
            <a:r>
              <a:rPr lang="en-US" sz="1100" dirty="0">
                <a:solidFill>
                  <a:srgbClr val="E6ECF2"/>
                </a:solidFill>
                <a:latin typeface="Calibri" pitchFamily="34" charset="0"/>
                <a:ea typeface="Calibri" pitchFamily="34" charset="-122"/>
                <a:cs typeface="Calibri" pitchFamily="34" charset="-120"/>
              </a:rPr>
              <a:t>Cross-subject generalization is the hard part — not the day, the person</a:t>
            </a:r>
            <a:endParaRPr lang="en-US" sz="1100" dirty="0"/>
          </a:p>
        </p:txBody>
      </p:sp>
      <p:sp>
        <p:nvSpPr>
          <p:cNvPr id="18" name="Shape 13"/>
          <p:cNvSpPr/>
          <p:nvPr/>
        </p:nvSpPr>
        <p:spPr>
          <a:xfrm>
            <a:off x="822960" y="4251960"/>
            <a:ext cx="274320" cy="274320"/>
          </a:xfrm>
          <a:prstGeom prst="ellipse">
            <a:avLst/>
          </a:prstGeom>
          <a:solidFill>
            <a:srgbClr val="12294D"/>
          </a:solidFill>
          <a:ln/>
        </p:spPr>
      </p:sp>
      <p:pic>
        <p:nvPicPr>
          <p:cNvPr id="19" name="Image 3" descr="icons/check_2EC4B6.png"/>
          <p:cNvPicPr>
            <a:picLocks noChangeAspect="1"/>
          </p:cNvPicPr>
          <p:nvPr/>
        </p:nvPicPr>
        <p:blipFill>
          <a:blip r:embed="rId3"/>
          <a:stretch>
            <a:fillRect/>
          </a:stretch>
        </p:blipFill>
        <p:spPr>
          <a:xfrm>
            <a:off x="894283" y="4323283"/>
            <a:ext cx="131674" cy="131674"/>
          </a:xfrm>
          <a:prstGeom prst="rect">
            <a:avLst/>
          </a:prstGeom>
        </p:spPr>
      </p:pic>
      <p:sp>
        <p:nvSpPr>
          <p:cNvPr id="20" name="Text 14"/>
          <p:cNvSpPr/>
          <p:nvPr/>
        </p:nvSpPr>
        <p:spPr>
          <a:xfrm>
            <a:off x="1207008" y="4197096"/>
            <a:ext cx="4434840" cy="475488"/>
          </a:xfrm>
          <a:prstGeom prst="rect">
            <a:avLst/>
          </a:prstGeom>
          <a:noFill/>
          <a:ln/>
        </p:spPr>
        <p:txBody>
          <a:bodyPr wrap="square" lIns="0" tIns="0" rIns="0" bIns="0" rtlCol="0" anchor="ctr"/>
          <a:lstStyle/>
          <a:p>
            <a:pPr marL="0" indent="0">
              <a:buNone/>
            </a:pPr>
            <a:r>
              <a:rPr lang="en-US" sz="1100" dirty="0">
                <a:solidFill>
                  <a:srgbClr val="E6ECF2"/>
                </a:solidFill>
                <a:latin typeface="Calibri" pitchFamily="34" charset="0"/>
                <a:ea typeface="Calibri" pitchFamily="34" charset="-122"/>
                <a:cs typeface="Calibri" pitchFamily="34" charset="-120"/>
              </a:rPr>
              <a:t>Neither better features (FBCSP) nor deep learning (EEGNet) close that gap</a:t>
            </a:r>
            <a:endParaRPr lang="en-US" sz="1100" dirty="0"/>
          </a:p>
        </p:txBody>
      </p:sp>
      <p:sp>
        <p:nvSpPr>
          <p:cNvPr id="21" name="Shape 15"/>
          <p:cNvSpPr/>
          <p:nvPr/>
        </p:nvSpPr>
        <p:spPr>
          <a:xfrm>
            <a:off x="822960" y="4764024"/>
            <a:ext cx="274320" cy="274320"/>
          </a:xfrm>
          <a:prstGeom prst="ellipse">
            <a:avLst/>
          </a:prstGeom>
          <a:solidFill>
            <a:srgbClr val="12294D"/>
          </a:solidFill>
          <a:ln/>
        </p:spPr>
      </p:sp>
      <p:pic>
        <p:nvPicPr>
          <p:cNvPr id="22" name="Image 4" descr="icons/check_2EC4B6.png"/>
          <p:cNvPicPr>
            <a:picLocks noChangeAspect="1"/>
          </p:cNvPicPr>
          <p:nvPr/>
        </p:nvPicPr>
        <p:blipFill>
          <a:blip r:embed="rId3"/>
          <a:stretch>
            <a:fillRect/>
          </a:stretch>
        </p:blipFill>
        <p:spPr>
          <a:xfrm>
            <a:off x="894283" y="4835347"/>
            <a:ext cx="131674" cy="131674"/>
          </a:xfrm>
          <a:prstGeom prst="rect">
            <a:avLst/>
          </a:prstGeom>
        </p:spPr>
      </p:pic>
      <p:sp>
        <p:nvSpPr>
          <p:cNvPr id="23" name="Text 16"/>
          <p:cNvSpPr/>
          <p:nvPr/>
        </p:nvSpPr>
        <p:spPr>
          <a:xfrm>
            <a:off x="1207008" y="4709160"/>
            <a:ext cx="4434840" cy="475488"/>
          </a:xfrm>
          <a:prstGeom prst="rect">
            <a:avLst/>
          </a:prstGeom>
          <a:noFill/>
          <a:ln/>
        </p:spPr>
        <p:txBody>
          <a:bodyPr wrap="square" lIns="0" tIns="0" rIns="0" bIns="0" rtlCol="0" anchor="ctr"/>
          <a:lstStyle/>
          <a:p>
            <a:pPr marL="0" indent="0">
              <a:buNone/>
            </a:pPr>
            <a:r>
              <a:rPr lang="en-US" sz="1100" dirty="0">
                <a:solidFill>
                  <a:srgbClr val="E6ECF2"/>
                </a:solidFill>
                <a:latin typeface="Calibri" pitchFamily="34" charset="0"/>
                <a:ea typeface="Calibri" pitchFamily="34" charset="-122"/>
                <a:cs typeface="Calibri" pitchFamily="34" charset="-120"/>
              </a:rPr>
              <a:t>Subject adaptation does — +7.6pp, more consistently, with just 20% of a person's own data</a:t>
            </a:r>
            <a:endParaRPr lang="en-US" sz="1100" dirty="0"/>
          </a:p>
        </p:txBody>
      </p:sp>
      <p:sp>
        <p:nvSpPr>
          <p:cNvPr id="24" name="Shape 17"/>
          <p:cNvSpPr/>
          <p:nvPr/>
        </p:nvSpPr>
        <p:spPr>
          <a:xfrm>
            <a:off x="822960" y="5276088"/>
            <a:ext cx="274320" cy="274320"/>
          </a:xfrm>
          <a:prstGeom prst="ellipse">
            <a:avLst/>
          </a:prstGeom>
          <a:solidFill>
            <a:srgbClr val="12294D"/>
          </a:solidFill>
          <a:ln/>
        </p:spPr>
      </p:sp>
      <p:pic>
        <p:nvPicPr>
          <p:cNvPr id="25" name="Image 5" descr="icons/check_2EC4B6.png"/>
          <p:cNvPicPr>
            <a:picLocks noChangeAspect="1"/>
          </p:cNvPicPr>
          <p:nvPr/>
        </p:nvPicPr>
        <p:blipFill>
          <a:blip r:embed="rId3"/>
          <a:stretch>
            <a:fillRect/>
          </a:stretch>
        </p:blipFill>
        <p:spPr>
          <a:xfrm>
            <a:off x="894283" y="5347411"/>
            <a:ext cx="131674" cy="131674"/>
          </a:xfrm>
          <a:prstGeom prst="rect">
            <a:avLst/>
          </a:prstGeom>
        </p:spPr>
      </p:pic>
      <p:sp>
        <p:nvSpPr>
          <p:cNvPr id="26" name="Text 18"/>
          <p:cNvSpPr/>
          <p:nvPr/>
        </p:nvSpPr>
        <p:spPr>
          <a:xfrm>
            <a:off x="1207008" y="5221224"/>
            <a:ext cx="4434840" cy="475488"/>
          </a:xfrm>
          <a:prstGeom prst="rect">
            <a:avLst/>
          </a:prstGeom>
          <a:noFill/>
          <a:ln/>
        </p:spPr>
        <p:txBody>
          <a:bodyPr wrap="square" lIns="0" tIns="0" rIns="0" bIns="0" rtlCol="0" anchor="ctr"/>
          <a:lstStyle/>
          <a:p>
            <a:pPr marL="0" indent="0">
              <a:buNone/>
            </a:pPr>
            <a:r>
              <a:rPr lang="en-US" sz="1100" dirty="0">
                <a:solidFill>
                  <a:srgbClr val="E6ECF2"/>
                </a:solidFill>
                <a:latin typeface="Calibri" pitchFamily="34" charset="0"/>
                <a:ea typeface="Calibri" pitchFamily="34" charset="-122"/>
                <a:cs typeface="Calibri" pitchFamily="34" charset="-120"/>
              </a:rPr>
              <a:t>A working offline simulation of the full predict → command pipeline</a:t>
            </a:r>
            <a:endParaRPr lang="en-US" sz="1100" dirty="0"/>
          </a:p>
        </p:txBody>
      </p:sp>
      <p:sp>
        <p:nvSpPr>
          <p:cNvPr id="27" name="Shape 19"/>
          <p:cNvSpPr/>
          <p:nvPr/>
        </p:nvSpPr>
        <p:spPr>
          <a:xfrm>
            <a:off x="6263640" y="2057400"/>
            <a:ext cx="5349240" cy="3566160"/>
          </a:xfrm>
          <a:prstGeom prst="roundRect">
            <a:avLst>
              <a:gd name="adj" fmla="val 2564"/>
            </a:avLst>
          </a:prstGeom>
          <a:solidFill>
            <a:srgbClr val="1B355C"/>
          </a:solidFill>
          <a:ln/>
        </p:spPr>
      </p:sp>
      <p:sp>
        <p:nvSpPr>
          <p:cNvPr id="28" name="Text 20"/>
          <p:cNvSpPr/>
          <p:nvPr/>
        </p:nvSpPr>
        <p:spPr>
          <a:xfrm>
            <a:off x="6537960" y="2286000"/>
            <a:ext cx="4800600" cy="274320"/>
          </a:xfrm>
          <a:prstGeom prst="rect">
            <a:avLst/>
          </a:prstGeom>
          <a:noFill/>
          <a:ln/>
        </p:spPr>
        <p:txBody>
          <a:bodyPr wrap="square" lIns="0" tIns="0" rIns="0" bIns="0" rtlCol="0" anchor="ctr"/>
          <a:lstStyle/>
          <a:p>
            <a:pPr marL="0" indent="0">
              <a:buNone/>
            </a:pPr>
            <a:r>
              <a:rPr lang="en-US" sz="1150" b="1" kern="0" spc="150" dirty="0">
                <a:solidFill>
                  <a:srgbClr val="1C7293"/>
                </a:solidFill>
                <a:latin typeface="Calibri" pitchFamily="34" charset="0"/>
                <a:ea typeface="Calibri" pitchFamily="34" charset="-122"/>
                <a:cs typeface="Calibri" pitchFamily="34" charset="-120"/>
              </a:rPr>
              <a:t>WHAT'S STILL OPEN</a:t>
            </a:r>
            <a:endParaRPr lang="en-US" sz="1150" dirty="0"/>
          </a:p>
        </p:txBody>
      </p:sp>
      <p:sp>
        <p:nvSpPr>
          <p:cNvPr id="29" name="Shape 21"/>
          <p:cNvSpPr/>
          <p:nvPr/>
        </p:nvSpPr>
        <p:spPr>
          <a:xfrm>
            <a:off x="6537960" y="2715768"/>
            <a:ext cx="274320" cy="274320"/>
          </a:xfrm>
          <a:prstGeom prst="ellipse">
            <a:avLst/>
          </a:prstGeom>
          <a:solidFill>
            <a:srgbClr val="12294D"/>
          </a:solidFill>
          <a:ln/>
        </p:spPr>
      </p:sp>
      <p:pic>
        <p:nvPicPr>
          <p:cNvPr id="30" name="Image 6" descr="icons/rocket_1C7293.png"/>
          <p:cNvPicPr>
            <a:picLocks noChangeAspect="1"/>
          </p:cNvPicPr>
          <p:nvPr/>
        </p:nvPicPr>
        <p:blipFill>
          <a:blip r:embed="rId4"/>
          <a:stretch>
            <a:fillRect/>
          </a:stretch>
        </p:blipFill>
        <p:spPr>
          <a:xfrm>
            <a:off x="6609283" y="2787091"/>
            <a:ext cx="131674" cy="131674"/>
          </a:xfrm>
          <a:prstGeom prst="rect">
            <a:avLst/>
          </a:prstGeom>
        </p:spPr>
      </p:pic>
      <p:sp>
        <p:nvSpPr>
          <p:cNvPr id="31" name="Text 22"/>
          <p:cNvSpPr/>
          <p:nvPr/>
        </p:nvSpPr>
        <p:spPr>
          <a:xfrm>
            <a:off x="6922008" y="2660904"/>
            <a:ext cx="4434840" cy="475488"/>
          </a:xfrm>
          <a:prstGeom prst="rect">
            <a:avLst/>
          </a:prstGeom>
          <a:noFill/>
          <a:ln/>
        </p:spPr>
        <p:txBody>
          <a:bodyPr wrap="square" lIns="0" tIns="0" rIns="0" bIns="0" rtlCol="0" anchor="ctr"/>
          <a:lstStyle/>
          <a:p>
            <a:pPr marL="0" indent="0">
              <a:buNone/>
            </a:pPr>
            <a:r>
              <a:rPr lang="en-US" sz="1100" dirty="0">
                <a:solidFill>
                  <a:srgbClr val="E6ECF2"/>
                </a:solidFill>
                <a:latin typeface="Calibri" pitchFamily="34" charset="0"/>
                <a:ea typeface="Calibri" pitchFamily="34" charset="-122"/>
                <a:cs typeface="Calibri" pitchFamily="34" charset="-120"/>
              </a:rPr>
              <a:t>No real EEG hardware — everything is offline / simulated</a:t>
            </a:r>
            <a:endParaRPr lang="en-US" sz="1100" dirty="0"/>
          </a:p>
        </p:txBody>
      </p:sp>
      <p:sp>
        <p:nvSpPr>
          <p:cNvPr id="32" name="Shape 23"/>
          <p:cNvSpPr/>
          <p:nvPr/>
        </p:nvSpPr>
        <p:spPr>
          <a:xfrm>
            <a:off x="6537960" y="3227832"/>
            <a:ext cx="274320" cy="274320"/>
          </a:xfrm>
          <a:prstGeom prst="ellipse">
            <a:avLst/>
          </a:prstGeom>
          <a:solidFill>
            <a:srgbClr val="12294D"/>
          </a:solidFill>
          <a:ln/>
        </p:spPr>
      </p:sp>
      <p:pic>
        <p:nvPicPr>
          <p:cNvPr id="33" name="Image 7" descr="icons/rocket_1C7293.png"/>
          <p:cNvPicPr>
            <a:picLocks noChangeAspect="1"/>
          </p:cNvPicPr>
          <p:nvPr/>
        </p:nvPicPr>
        <p:blipFill>
          <a:blip r:embed="rId4"/>
          <a:stretch>
            <a:fillRect/>
          </a:stretch>
        </p:blipFill>
        <p:spPr>
          <a:xfrm>
            <a:off x="6609283" y="3299155"/>
            <a:ext cx="131674" cy="131674"/>
          </a:xfrm>
          <a:prstGeom prst="rect">
            <a:avLst/>
          </a:prstGeom>
        </p:spPr>
      </p:pic>
      <p:sp>
        <p:nvSpPr>
          <p:cNvPr id="34" name="Text 24"/>
          <p:cNvSpPr/>
          <p:nvPr/>
        </p:nvSpPr>
        <p:spPr>
          <a:xfrm>
            <a:off x="6922008" y="3172968"/>
            <a:ext cx="4434840" cy="475488"/>
          </a:xfrm>
          <a:prstGeom prst="rect">
            <a:avLst/>
          </a:prstGeom>
          <a:noFill/>
          <a:ln/>
        </p:spPr>
        <p:txBody>
          <a:bodyPr wrap="square" lIns="0" tIns="0" rIns="0" bIns="0" rtlCol="0" anchor="ctr"/>
          <a:lstStyle/>
          <a:p>
            <a:pPr marL="0" indent="0">
              <a:buNone/>
            </a:pPr>
            <a:r>
              <a:rPr lang="en-US" sz="1100" dirty="0">
                <a:solidFill>
                  <a:srgbClr val="E6ECF2"/>
                </a:solidFill>
                <a:latin typeface="Calibri" pitchFamily="34" charset="0"/>
                <a:ea typeface="Calibri" pitchFamily="34" charset="-122"/>
                <a:cs typeface="Calibri" pitchFamily="34" charset="-120"/>
              </a:rPr>
              <a:t>Live-simulation accuracy &amp; latency not yet measured numerically</a:t>
            </a:r>
            <a:endParaRPr lang="en-US" sz="1100" dirty="0"/>
          </a:p>
        </p:txBody>
      </p:sp>
      <p:sp>
        <p:nvSpPr>
          <p:cNvPr id="35" name="Shape 25"/>
          <p:cNvSpPr/>
          <p:nvPr/>
        </p:nvSpPr>
        <p:spPr>
          <a:xfrm>
            <a:off x="6537960" y="3739896"/>
            <a:ext cx="274320" cy="274320"/>
          </a:xfrm>
          <a:prstGeom prst="ellipse">
            <a:avLst/>
          </a:prstGeom>
          <a:solidFill>
            <a:srgbClr val="12294D"/>
          </a:solidFill>
          <a:ln/>
        </p:spPr>
      </p:sp>
      <p:pic>
        <p:nvPicPr>
          <p:cNvPr id="36" name="Image 8" descr="icons/rocket_1C7293.png"/>
          <p:cNvPicPr>
            <a:picLocks noChangeAspect="1"/>
          </p:cNvPicPr>
          <p:nvPr/>
        </p:nvPicPr>
        <p:blipFill>
          <a:blip r:embed="rId4"/>
          <a:stretch>
            <a:fillRect/>
          </a:stretch>
        </p:blipFill>
        <p:spPr>
          <a:xfrm>
            <a:off x="6609283" y="3811219"/>
            <a:ext cx="131674" cy="131674"/>
          </a:xfrm>
          <a:prstGeom prst="rect">
            <a:avLst/>
          </a:prstGeom>
        </p:spPr>
      </p:pic>
      <p:sp>
        <p:nvSpPr>
          <p:cNvPr id="37" name="Text 26"/>
          <p:cNvSpPr/>
          <p:nvPr/>
        </p:nvSpPr>
        <p:spPr>
          <a:xfrm>
            <a:off x="6922008" y="3685032"/>
            <a:ext cx="4434840" cy="475488"/>
          </a:xfrm>
          <a:prstGeom prst="rect">
            <a:avLst/>
          </a:prstGeom>
          <a:noFill/>
          <a:ln/>
        </p:spPr>
        <p:txBody>
          <a:bodyPr wrap="square" lIns="0" tIns="0" rIns="0" bIns="0" rtlCol="0" anchor="ctr"/>
          <a:lstStyle/>
          <a:p>
            <a:pPr marL="0" indent="0">
              <a:buNone/>
            </a:pPr>
            <a:r>
              <a:rPr lang="en-US" sz="1100" dirty="0">
                <a:solidFill>
                  <a:srgbClr val="E6ECF2"/>
                </a:solidFill>
                <a:latin typeface="Calibri" pitchFamily="34" charset="0"/>
                <a:ea typeface="Calibri" pitchFamily="34" charset="-122"/>
                <a:cs typeface="Calibri" pitchFamily="34" charset="-120"/>
              </a:rPr>
              <a:t>Subject adaptation not yet pushed further (how little target data is really needed?)</a:t>
            </a:r>
            <a:endParaRPr lang="en-US" sz="1100" dirty="0"/>
          </a:p>
        </p:txBody>
      </p:sp>
      <p:sp>
        <p:nvSpPr>
          <p:cNvPr id="38" name="Shape 27"/>
          <p:cNvSpPr/>
          <p:nvPr/>
        </p:nvSpPr>
        <p:spPr>
          <a:xfrm>
            <a:off x="6537960" y="4251960"/>
            <a:ext cx="274320" cy="274320"/>
          </a:xfrm>
          <a:prstGeom prst="ellipse">
            <a:avLst/>
          </a:prstGeom>
          <a:solidFill>
            <a:srgbClr val="12294D"/>
          </a:solidFill>
          <a:ln/>
        </p:spPr>
      </p:sp>
      <p:pic>
        <p:nvPicPr>
          <p:cNvPr id="39" name="Image 9" descr="icons/rocket_1C7293.png"/>
          <p:cNvPicPr>
            <a:picLocks noChangeAspect="1"/>
          </p:cNvPicPr>
          <p:nvPr/>
        </p:nvPicPr>
        <p:blipFill>
          <a:blip r:embed="rId4"/>
          <a:stretch>
            <a:fillRect/>
          </a:stretch>
        </p:blipFill>
        <p:spPr>
          <a:xfrm>
            <a:off x="6609283" y="4323283"/>
            <a:ext cx="131674" cy="131674"/>
          </a:xfrm>
          <a:prstGeom prst="rect">
            <a:avLst/>
          </a:prstGeom>
        </p:spPr>
      </p:pic>
      <p:sp>
        <p:nvSpPr>
          <p:cNvPr id="40" name="Text 28"/>
          <p:cNvSpPr/>
          <p:nvPr/>
        </p:nvSpPr>
        <p:spPr>
          <a:xfrm>
            <a:off x="6922008" y="4197096"/>
            <a:ext cx="4434840" cy="475488"/>
          </a:xfrm>
          <a:prstGeom prst="rect">
            <a:avLst/>
          </a:prstGeom>
          <a:noFill/>
          <a:ln/>
        </p:spPr>
        <p:txBody>
          <a:bodyPr wrap="square" lIns="0" tIns="0" rIns="0" bIns="0" rtlCol="0" anchor="ctr"/>
          <a:lstStyle/>
          <a:p>
            <a:pPr marL="0" indent="0">
              <a:buNone/>
            </a:pPr>
            <a:r>
              <a:rPr lang="en-US" sz="1100" dirty="0">
                <a:solidFill>
                  <a:srgbClr val="E6ECF2"/>
                </a:solidFill>
                <a:latin typeface="Calibri" pitchFamily="34" charset="0"/>
                <a:ea typeface="Calibri" pitchFamily="34" charset="-122"/>
                <a:cs typeface="Calibri" pitchFamily="34" charset="-120"/>
              </a:rPr>
              <a:t>Real-time signal acquisition &amp; object/hardware integration not started</a:t>
            </a:r>
            <a:endParaRPr lang="en-US" sz="1100" dirty="0"/>
          </a:p>
        </p:txBody>
      </p:sp>
      <p:sp>
        <p:nvSpPr>
          <p:cNvPr id="41" name="Shape 29"/>
          <p:cNvSpPr/>
          <p:nvPr/>
        </p:nvSpPr>
        <p:spPr>
          <a:xfrm>
            <a:off x="548640" y="5806440"/>
            <a:ext cx="11091672" cy="777240"/>
          </a:xfrm>
          <a:prstGeom prst="roundRect">
            <a:avLst>
              <a:gd name="adj" fmla="val 9412"/>
            </a:avLst>
          </a:prstGeom>
          <a:solidFill>
            <a:srgbClr val="2EC4B6"/>
          </a:solidFill>
          <a:ln/>
        </p:spPr>
      </p:sp>
      <p:sp>
        <p:nvSpPr>
          <p:cNvPr id="42" name="Text 30"/>
          <p:cNvSpPr/>
          <p:nvPr/>
        </p:nvSpPr>
        <p:spPr>
          <a:xfrm>
            <a:off x="822960" y="5806440"/>
            <a:ext cx="10515600" cy="777240"/>
          </a:xfrm>
          <a:prstGeom prst="rect">
            <a:avLst/>
          </a:prstGeom>
          <a:noFill/>
          <a:ln/>
        </p:spPr>
        <p:txBody>
          <a:bodyPr wrap="square" lIns="0" tIns="0" rIns="0" bIns="0" rtlCol="0" anchor="ctr"/>
          <a:lstStyle/>
          <a:p>
            <a:pPr marL="0" indent="0">
              <a:buNone/>
            </a:pPr>
            <a:r>
              <a:rPr lang="en-US" sz="1300" b="1" dirty="0">
                <a:solidFill>
                  <a:srgbClr val="12294D"/>
                </a:solidFill>
                <a:latin typeface="Calibri" pitchFamily="34" charset="0"/>
                <a:ea typeface="Calibri" pitchFamily="34" charset="-122"/>
                <a:cs typeface="Calibri" pitchFamily="34" charset="-120"/>
              </a:rPr>
              <a:t>This is a completed first half, not an unfinished whole project — the investigation is done and reproducible; what remains is engineering.</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Widescreen</PresentationFormat>
  <Paragraphs>0</Paragraphs>
  <Slides>12</Slides>
  <Notes>12</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13</cp:revision>
  <dcterms:created xsi:type="dcterms:W3CDTF">2026-09-07T08:24:52Z</dcterms:created>
  <dcterms:modified xsi:type="dcterms:W3CDTF">2026-09-07T08:30:46Z</dcterms:modified>
</cp:coreProperties>
</file>